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2abe8313eed4694" /><Relationship Type="http://schemas.openxmlformats.org/officeDocument/2006/relationships/extended-properties" Target="/docProps/app.xml" Id="R99a3be33f85f4f51" /><Relationship Type="http://schemas.openxmlformats.org/officeDocument/2006/relationships/officeDocument" Target="/ppt/presentation.xml" Id="R90caf0207f83485a" /></Relationships>
</file>

<file path=ppt/presentation.xml><?xml version="1.0" encoding="utf-8"?>
<p:presentation xmlns:p="http://schemas.openxmlformats.org/presentationml/2006/main">
  <p:sldMasterIdLst>
    <p:sldMasterId xmlns:r="http://schemas.openxmlformats.org/officeDocument/2006/relationships" id="2147483648" r:id="Rff8f2d9dc2354543"/>
  </p:sldMasterIdLst>
  <p:notesMasterIdLst>
    <p:notesMasterId xmlns:r="http://schemas.openxmlformats.org/officeDocument/2006/relationships" r:id="R8b129721b63d43d4"/>
  </p:notesMasterIdLst>
  <p:sldIdLst>
    <p:sldId xmlns:r="http://schemas.openxmlformats.org/officeDocument/2006/relationships" id="256" r:id="R14146b093bac494c"/>
    <p:sldId xmlns:r="http://schemas.openxmlformats.org/officeDocument/2006/relationships" id="257" r:id="R80281ec5cd704423"/>
    <p:sldId xmlns:r="http://schemas.openxmlformats.org/officeDocument/2006/relationships" id="258" r:id="R15aee481108b4bce"/>
    <p:sldId xmlns:r="http://schemas.openxmlformats.org/officeDocument/2006/relationships" id="259" r:id="R0d343bef510e4544"/>
    <p:sldId xmlns:r="http://schemas.openxmlformats.org/officeDocument/2006/relationships" id="260" r:id="Rfaf36e33c75f4db3"/>
    <p:sldId xmlns:r="http://schemas.openxmlformats.org/officeDocument/2006/relationships" id="261" r:id="R01ca8cfe70b444b1"/>
    <p:sldId xmlns:r="http://schemas.openxmlformats.org/officeDocument/2006/relationships" id="262" r:id="R810c6af4e2a8441d"/>
    <p:sldId xmlns:r="http://schemas.openxmlformats.org/officeDocument/2006/relationships" id="263" r:id="R738a415b2cb64f96"/>
    <p:sldId xmlns:r="http://schemas.openxmlformats.org/officeDocument/2006/relationships" id="264" r:id="Ra8359e3d038048ad"/>
    <p:sldId xmlns:r="http://schemas.openxmlformats.org/officeDocument/2006/relationships" id="265" r:id="R3a529434737c451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427fc3cb13c4a34" /><Relationship Type="http://schemas.openxmlformats.org/officeDocument/2006/relationships/slideMaster" Target="/ppt/slideMasters/slideMaster1.xml" Id="Rff8f2d9dc2354543" /><Relationship Type="http://schemas.openxmlformats.org/officeDocument/2006/relationships/notesMaster" Target="/ppt/notesMasters/notesMaster1.xml" Id="R8b129721b63d43d4" /><Relationship Type="http://schemas.openxmlformats.org/officeDocument/2006/relationships/presProps" Target="/ppt/presProps.xml" Id="R6a2120ace3ad4346" /><Relationship Type="http://schemas.openxmlformats.org/officeDocument/2006/relationships/tableStyles" Target="/ppt/tableStyles.xml" Id="Rdb97de722916478d" /><Relationship Type="http://schemas.openxmlformats.org/officeDocument/2006/relationships/slide" Target="/ppt/slides/slide1.xml" Id="R14146b093bac494c" /><Relationship Type="http://schemas.openxmlformats.org/officeDocument/2006/relationships/slide" Target="/ppt/slides/slide2.xml" Id="R80281ec5cd704423" /><Relationship Type="http://schemas.openxmlformats.org/officeDocument/2006/relationships/slide" Target="/ppt/slides/slide3.xml" Id="R15aee481108b4bce" /><Relationship Type="http://schemas.openxmlformats.org/officeDocument/2006/relationships/slide" Target="/ppt/slides/slide4.xml" Id="R0d343bef510e4544" /><Relationship Type="http://schemas.openxmlformats.org/officeDocument/2006/relationships/slide" Target="/ppt/slides/slide5.xml" Id="Rfaf36e33c75f4db3" /><Relationship Type="http://schemas.openxmlformats.org/officeDocument/2006/relationships/slide" Target="/ppt/slides/slide6.xml" Id="R01ca8cfe70b444b1" /><Relationship Type="http://schemas.openxmlformats.org/officeDocument/2006/relationships/slide" Target="/ppt/slides/slide7.xml" Id="R810c6af4e2a8441d" /><Relationship Type="http://schemas.openxmlformats.org/officeDocument/2006/relationships/slide" Target="/ppt/slides/slide8.xml" Id="R738a415b2cb64f96" /><Relationship Type="http://schemas.openxmlformats.org/officeDocument/2006/relationships/slide" Target="/ppt/slides/slide9.xml" Id="Ra8359e3d038048ad" /><Relationship Type="http://schemas.openxmlformats.org/officeDocument/2006/relationships/slide" Target="/ppt/slides/slide10.xml" Id="R3a529434737c451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bc51fc2a5ec4b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cc5e8c2ef8438a" /><Relationship Type="http://schemas.openxmlformats.org/officeDocument/2006/relationships/notesMaster" Target="/ppt/notesMasters/notesMaster1.xml" Id="R80bf7e4b720d4bc6" /></Relationships>
</file>

<file path=ppt/notesSlides/_rels/notesSlide2.xml.rels>&#65279;<?xml version="1.0" encoding="utf-8"?><Relationships xmlns="http://schemas.openxmlformats.org/package/2006/relationships"><Relationship Type="http://schemas.openxmlformats.org/officeDocument/2006/relationships/slide" Target="/ppt/slides/slide2.xml" Id="R39dc79531b9f47d4" /><Relationship Type="http://schemas.openxmlformats.org/officeDocument/2006/relationships/notesMaster" Target="/ppt/notesMasters/notesMaster1.xml" Id="R65f46db912ae4e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0f2ddf63b9004337" /><Relationship Type="http://schemas.openxmlformats.org/officeDocument/2006/relationships/notesMaster" Target="/ppt/notesMasters/notesMaster1.xml" Id="R5ba29da2c17d447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728c8fac984bc0" /><Relationship Type="http://schemas.openxmlformats.org/officeDocument/2006/relationships/notesMaster" Target="/ppt/notesMasters/notesMaster1.xml" Id="R42b49297fe154867" /></Relationships>
</file>

<file path=ppt/notesSlides/_rels/notesSlide5.xml.rels>&#65279;<?xml version="1.0" encoding="utf-8"?><Relationships xmlns="http://schemas.openxmlformats.org/package/2006/relationships"><Relationship Type="http://schemas.openxmlformats.org/officeDocument/2006/relationships/slide" Target="/ppt/slides/slide5.xml" Id="Red63be8c29584975" /><Relationship Type="http://schemas.openxmlformats.org/officeDocument/2006/relationships/notesMaster" Target="/ppt/notesMasters/notesMaster1.xml" Id="R8010869ceb8e4ec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0b80c18ba147c7" /><Relationship Type="http://schemas.openxmlformats.org/officeDocument/2006/relationships/notesMaster" Target="/ppt/notesMasters/notesMaster1.xml" Id="R49545fab10574ca3" /></Relationships>
</file>

<file path=ppt/notesSlides/_rels/notesSlide7.xml.rels>&#65279;<?xml version="1.0" encoding="utf-8"?><Relationships xmlns="http://schemas.openxmlformats.org/package/2006/relationships"><Relationship Type="http://schemas.openxmlformats.org/officeDocument/2006/relationships/slide" Target="/ppt/slides/slide7.xml" Id="R16faaf0c6b824b46" /><Relationship Type="http://schemas.openxmlformats.org/officeDocument/2006/relationships/notesMaster" Target="/ppt/notesMasters/notesMaster1.xml" Id="Rc87b218a7cb749d1" /></Relationships>
</file>

<file path=ppt/notesSlides/_rels/notesSlide8.xml.rels>&#65279;<?xml version="1.0" encoding="utf-8"?><Relationships xmlns="http://schemas.openxmlformats.org/package/2006/relationships"><Relationship Type="http://schemas.openxmlformats.org/officeDocument/2006/relationships/slide" Target="/ppt/slides/slide8.xml" Id="Rb8fc522e296a43d1" /><Relationship Type="http://schemas.openxmlformats.org/officeDocument/2006/relationships/notesMaster" Target="/ppt/notesMasters/notesMaster1.xml" Id="Rd6d6c8492742465a" /></Relationships>
</file>

<file path=ppt/notesSlides/_rels/notesSlide9.xml.rels>&#65279;<?xml version="1.0" encoding="utf-8"?><Relationships xmlns="http://schemas.openxmlformats.org/package/2006/relationships"><Relationship Type="http://schemas.openxmlformats.org/officeDocument/2006/relationships/slide" Target="/ppt/slides/slide9.xml" Id="Re63d485b08c04ce4" /><Relationship Type="http://schemas.openxmlformats.org/officeDocument/2006/relationships/notesMaster" Target="/ppt/notesMasters/notesMaster1.xml" Id="R7db6aa113dec41e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f81f8bd65224350" /><Relationship Type="http://schemas.openxmlformats.org/officeDocument/2006/relationships/notesMaster" Target="/ppt/notesMasters/notesMaster1.xml" Id="R23e5e33587bc4e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flight delay can threaten everything a traveler booked around it. Raahi understands that connected trip and helps the traveler recover it around their budget and the experiences they care about. Our prototype takes that journey all the way through review and a saved itinerary.</a:t>
            </a:r>
          </a:p>
          <a:p xmlns:a="http://schemas.openxmlformats.org/drawingml/2006/main">
            <a:r>
              <a:t/>
            </a:r>
          </a:p>
          <a:p xmlns:a="http://schemas.openxmlformats.org/drawingml/2006/main">
            <a:r>
              <a:t>Evidence / source: https://github.com/ParmiGohil/Raahi/tree/main; original decorative Goa-inspired artwork: public/images/goa-coast.png. Generated artwork, not a real booking or current destination condition.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our fictional Mumbai–Goa trip, the flight arrives three hours late. The traveler is ready at 14:30, well after the 11:50 shuttle cutoff. That breaks the hotel transfer and threatens the concert. The difficult task is checking the consequences across bookings while also understanding what another plan will cost.</a:t>
            </a:r>
          </a:p>
          <a:p xmlns:a="http://schemas.openxmlformats.org/drawingml/2006/main">
            <a:r>
              <a:t/>
            </a:r>
          </a:p>
          <a:p xmlns:a="http://schemas.openxmlformats.org/drawingml/2006/main">
            <a:r>
              <a:t>Evidence / source: https://github.com/ParmiGohil/Raahi/tree/main/src/fixtures/trip.ts and src/engine/recover.ts. All times IST on 26 September 2026; authored scenario, not live travel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working Raahi interface. The itinerary stays alongside the recovery options so the traveler sees what changes and why. Each option makes the cash needed now and the event tradeoff visible. The traveler reviews the full route and cost ledger before accepting anything.</a:t>
            </a:r>
          </a:p>
          <a:p xmlns:a="http://schemas.openxmlformats.org/drawingml/2006/main">
            <a:r>
              <a:t/>
            </a:r>
          </a:p>
          <a:p xmlns:a="http://schemas.openxmlformats.org/drawingml/2006/main">
            <a:r>
              <a:t>Evidence / source: https://github.com/ParmiGohil/Raahi/tree/main/src/components/workspace.tsx. Screenshot captured from the local working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engine represents bookings and their dependencies explicitly. It propagates impacts from the disrupted segment, then validates complete replacement routes. Timing alone is not enough: locations must connect, supplier permissions must be available, and completed travel must stay unchanged. This lets the system reject plans that look plausible but cannot actually work.</a:t>
            </a:r>
          </a:p>
          <a:p xmlns:a="http://schemas.openxmlformats.org/drawingml/2006/main">
            <a:r>
              <a:t/>
            </a:r>
          </a:p>
          <a:p xmlns:a="http://schemas.openxmlformats.org/drawingml/2006/main">
            <a:r>
              <a:t>Evidence / source: https://github.com/ParmiGohil/Raahi/tree/main/src/domain/types.ts, src/engine/recover.ts and src/engine/validate.ts. Bounded authored candidate plans with deterministic validation; no global optimization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delay has three validated choices. Eight hundred rupees gets a later shuttle and later concert session, with no time to rest. Eighteen hundred adds a cab and 45 minutes at the hotel. Twenty-three hundred protects the original concert with luggage storage and explicit late check-in permission. Four hundred rupees of prepaid loss is separate, not cash the traveler must pay again.</a:t>
            </a:r>
          </a:p>
          <a:p xmlns:a="http://schemas.openxmlformats.org/drawingml/2006/main">
            <a:r>
              <a:t/>
            </a:r>
          </a:p>
          <a:p xmlns:a="http://schemas.openxmlformats.org/drawingml/2006/main">
            <a:r>
              <a:t>Evidence / source: https://github.com/ParmiGohil/Raahi/tree/main/src/engine/recover.ts and tests/engine.test.ts. All amounts are exact fictional fixture amounts in INR. No refund entitlement or live inventory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trust test. Protect the original 4 PM concert and cap extra cash at two thousand rupees. Raahi returns no feasible plan. It does not quietly move the event or exceed the budget. With a two-thousand-five-hundred-rupee limit, the validated twenty-three-hundred-rupee plan becomes available. The same engine also handles concert cancellation and combined disruptions.</a:t>
            </a:r>
          </a:p>
          <a:p xmlns:a="http://schemas.openxmlformats.org/drawingml/2006/main">
            <a:r>
              <a:t/>
            </a:r>
          </a:p>
          <a:p xmlns:a="http://schemas.openxmlformats.org/drawingml/2006/main">
            <a:r>
              <a:t>Evidence / source: https://github.com/ParmiGohil/Raahi/tree/main/tests/engine.test.ts and src/demo/copilot.ts. The user must explicitly change the budget or protection setting.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copilot demonstrates how natural-language recovery could feel. Today it uses three clearly labeled authored requests and an animated walkthrough. The costs and feasibility come from the real engine. Previewing does not change the itinerary. The traveler confirms preferences, then separately reviews and applies a recovery. A future model adapter could replace interpretation while leaving validation intact.</a:t>
            </a:r>
          </a:p>
          <a:p xmlns:a="http://schemas.openxmlformats.org/drawingml/2006/main">
            <a:r>
              <a:t/>
            </a:r>
          </a:p>
          <a:p xmlns:a="http://schemas.openxmlformats.org/drawingml/2006/main">
            <a:r>
              <a:t>Evidence / source: https://github.com/ParmiGohil/Raahi/tree/main/src/components/copilot.tsx, src/demo/copilot.ts and src/domain/requests.ts. No LLM or supplier API call occurs. Screenshot from the working prototype.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keep interpretation separate from decisions and execution. The user interface sends validated commands. The independent engine calculates complete routes and exact ledgers. The server regenerates the selected plan before application and uses signed reviews with revision and retry checks. Local sessions persist to disk. The prepared Vercel mode uses encrypted browser cookies for an isolated demo, not collaborative production storage.</a:t>
            </a:r>
          </a:p>
          <a:p xmlns:a="http://schemas.openxmlformats.org/drawingml/2006/main">
            <a:r>
              <a:t/>
            </a:r>
          </a:p>
          <a:p xmlns:a="http://schemas.openxmlformats.org/drawingml/2006/main">
            <a:r>
              <a:t>Evidence / source: https://github.com/ParmiGohil/Raahi/tree/main/src/app/api/trip/route.ts, src/repositories/trip.ts, src/repositories/browser-session.ts, docs/HOSTING.md and package.json. Vercel publication is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working prototype covers the end-to-end recovery loop and three disruption scenarios. Thirteen focused tests pass, as does the production build. We also verified the mobile confirmation, review, application and refresh flow. We are explicit about the boundary: inventory and policies are fixtures, and model interpretation and supplier execution are simulated. Live provider evidence is the next integration step.</a:t>
            </a:r>
          </a:p>
          <a:p xmlns:a="http://schemas.openxmlformats.org/drawingml/2006/main">
            <a:r>
              <a:t/>
            </a:r>
          </a:p>
          <a:p xmlns:a="http://schemas.openxmlformats.org/drawingml/2006/main">
            <a:r>
              <a:t>Evidence / source: https://github.com/ParmiGohil/Raahi/tree/main/docs/VERIFICATION.md and CURRENT_STATUS.md. These are engineering checks, not user adoption, benchmark performance or production readiness metrics. Public deployment remains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prototype round, you can change the disruption, protect the original concert or tighten the cash limit, and see the engine adapt. We will take the selected route through review, application and refresh. Raahi brings the entire trip into the recovery decision, while keeping the traveler in control.</a:t>
            </a:r>
          </a:p>
          <a:p xmlns:a="http://schemas.openxmlformats.org/drawingml/2006/main">
            <a:r>
              <a:t/>
            </a:r>
          </a:p>
          <a:p xmlns:a="http://schemas.openxmlformats.org/drawingml/2006/main">
            <a:r>
              <a:t>Evidence / source: https://github.com/ParmiGohil/Raahi/tree/main; decorative background reuses the original generated project artwork.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fbf6e27f32455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2c271dccc44a5d" /><Relationship Type="http://schemas.openxmlformats.org/officeDocument/2006/relationships/slideLayout" Target="/ppt/slideLayouts/slideLayout1.xml" Id="R8fcfbc9b624142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cfbc9b624142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fd8a670b5ca4179" /><Relationship Type="http://schemas.openxmlformats.org/officeDocument/2006/relationships/image" Target="/ppt/media/image.png" Id="R901b14fd3d7b479f" /><Relationship Type="http://schemas.openxmlformats.org/officeDocument/2006/relationships/image" Target="/ppt/media/image2.png" Id="R1a87316246444060" /><Relationship Type="http://schemas.openxmlformats.org/officeDocument/2006/relationships/notesSlide" Target="/ppt/notesSlides/notesSlide1.xml" Id="R0ae65a6af4444b0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0576466203745a5" /><Relationship Type="http://schemas.openxmlformats.org/officeDocument/2006/relationships/notesSlide" Target="/ppt/notesSlides/notesSlide2.xml" Id="R3c054151cd1540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0baa02d83c94a56" /><Relationship Type="http://schemas.openxmlformats.org/officeDocument/2006/relationships/image" Target="/ppt/media/image3.png" Id="R97e2eea3961f4381" /><Relationship Type="http://schemas.openxmlformats.org/officeDocument/2006/relationships/notesSlide" Target="/ppt/notesSlides/notesSlide3.xml" Id="Re5699255057242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a7363cc33624d4f" /><Relationship Type="http://schemas.openxmlformats.org/officeDocument/2006/relationships/notesSlide" Target="/ppt/notesSlides/notesSlide4.xml" Id="Rbfc0e9b7f05b495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7a9eb4dd995437e" /><Relationship Type="http://schemas.openxmlformats.org/officeDocument/2006/relationships/notesSlide" Target="/ppt/notesSlides/notesSlide5.xml" Id="R74f2260d397e4a4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996bfa62c92444c" /><Relationship Type="http://schemas.openxmlformats.org/officeDocument/2006/relationships/notesSlide" Target="/ppt/notesSlides/notesSlide6.xml" Id="Rb28608aa805644a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8c79eaf8635498c" /><Relationship Type="http://schemas.openxmlformats.org/officeDocument/2006/relationships/image" Target="/ppt/media/image4.png" Id="R8f09f2ad91dd4608" /><Relationship Type="http://schemas.openxmlformats.org/officeDocument/2006/relationships/notesSlide" Target="/ppt/notesSlides/notesSlide7.xml" Id="R81efaf6fc3f348c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55c2d0d308b419d" /><Relationship Type="http://schemas.openxmlformats.org/officeDocument/2006/relationships/notesSlide" Target="/ppt/notesSlides/notesSlide8.xml" Id="R633edfe3371440c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47fb03ffd014ed8" /><Relationship Type="http://schemas.openxmlformats.org/officeDocument/2006/relationships/notesSlide" Target="/ppt/notesSlides/notesSlide9.xml" Id="R42c0a7aaee124dc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e0a14c87e2e4efd" /><Relationship Type="http://schemas.openxmlformats.org/officeDocument/2006/relationships/image" Target="/ppt/media/image5.png" Id="R414a534f55844163" /><Relationship Type="http://schemas.openxmlformats.org/officeDocument/2006/relationships/notesSlide" Target="/ppt/notesSlides/notesSlide10.xml" Id="Rbc7792cf02fc4771" /></Relationships>
</file>

<file path=ppt/slides/slide1.xml><?xml version="1.0" encoding="utf-8"?>
<p:sld xmlns:p="http://schemas.openxmlformats.org/presentationml/2006/main">
  <p:cSld>
    <p:bg>
      <p:bgPr>
        <a:solidFill xmlns:a="http://schemas.openxmlformats.org/drawingml/2006/main">
          <a:srgbClr val="164D47"/>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01b14fd3d7b479f"/>
          <a:srcRect xmlns:a="http://schemas.openxmlformats.org/drawingml/2006/main" l="20833" t="0" r="20833" b="0"/>
          <a:stretch xmlns:a="http://schemas.openxmlformats.org/drawingml/2006/main">
            <a:fillRect l="0" t="0" r="0" b="0"/>
          </a:stretch>
        </p:blipFill>
        <p:spPr>
          <a:xfrm xmlns:a="http://schemas.openxmlformats.org/drawingml/2006/main">
            <a:off x="6191250" y="0"/>
            <a:ext cx="6000750" cy="6858000"/>
          </a:xfrm>
          <a:prstGeom xmlns:a="http://schemas.openxmlformats.org/drawingml/2006/main" prst="rect">
            <a:avLst/>
          </a:prstGeom>
        </p:spPr>
      </p:pic>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a87316246444060"/>
          <a:stretch xmlns:a="http://schemas.openxmlformats.org/drawingml/2006/main"/>
        </p:blipFill>
        <p:spPr>
          <a:xfrm xmlns:a="http://schemas.openxmlformats.org/drawingml/2006/main">
            <a:off x="609600" y="533400"/>
            <a:ext cx="533400" cy="533400"/>
          </a:xfrm>
          <a:prstGeom xmlns:a="http://schemas.openxmlformats.org/drawingml/2006/main" prst="rect">
            <a:avLst/>
          </a:prstGeom>
        </p:spPr>
      </p:pic>
      <p:sp>
        <p:nvSpPr>
          <p:cNvPr id="3" name="Raahi">
            <a:extLst xmlns:a="http://schemas.openxmlformats.org/drawingml/2006/main">
              <a:ext uri="{FF2B5EF4-FFF2-40B4-BE49-F238E27FC236}">
                <a16:creationId xmlns:a16="http://schemas.microsoft.com/office/drawing/2014/main" id="{97351065-01EB-400C-8801-85AF25338EAF}"/>
              </a:ext>
            </a:extLst>
          </p:cNvPr>
          <p:cNvSpPr>
            <a:spLocks xmlns:a="http://schemas.openxmlformats.org/drawingml/2006/main" noGrp="1"/>
          </p:cNvSpPr>
          <p:nvPr/>
        </p:nvSpPr>
        <p:spPr>
          <a:xfrm xmlns:a="http://schemas.openxmlformats.org/drawingml/2006/main">
            <a:off x="609600" y="1552575"/>
            <a:ext cx="5238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7350" b="1">
                <a:solidFill>
                  <a:srgbClr val="F8F7F3"/>
                </a:solidFill>
                <a:latin typeface="Arial"/>
                <a:ea typeface="Arial"/>
                <a:cs typeface="Arial"/>
              </a:defRPr>
            </a:pPr>
            <a:r>
              <a:rPr sz="7350" b="1">
                <a:solidFill>
                  <a:srgbClr val="F8F7F3"/>
                </a:solidFill>
                <a:latin typeface="Arial"/>
                <a:ea typeface="Arial"/>
                <a:cs typeface="Arial"/>
              </a:rPr>
              <a:t>Raahi</a:t>
            </a:r>
          </a:p>
        </p:txBody>
      </p:sp>
      <p:sp>
        <p:nvSpPr>
          <p:cNvPr id="4" name="A way forward">
            <a:extLst xmlns:a="http://schemas.openxmlformats.org/drawingml/2006/main">
              <a:ext uri="{FF2B5EF4-FFF2-40B4-BE49-F238E27FC236}">
                <a16:creationId xmlns:a16="http://schemas.microsoft.com/office/drawing/2014/main" id="{63308AD7-26FA-4F8E-A59F-BA5CF776A497}"/>
              </a:ext>
            </a:extLst>
          </p:cNvPr>
          <p:cNvSpPr>
            <a:spLocks xmlns:a="http://schemas.openxmlformats.org/drawingml/2006/main" noGrp="1"/>
          </p:cNvSpPr>
          <p:nvPr/>
        </p:nvSpPr>
        <p:spPr>
          <a:xfrm xmlns:a="http://schemas.openxmlformats.org/drawingml/2006/main">
            <a:off x="647700" y="2724150"/>
            <a:ext cx="5095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125" b="0" i="1">
                <a:solidFill>
                  <a:srgbClr val="E6B978"/>
                </a:solidFill>
                <a:latin typeface="Georgia"/>
                <a:ea typeface="Georgia"/>
                <a:cs typeface="Georgia"/>
              </a:defRPr>
            </a:pPr>
            <a:r>
              <a:rPr sz="4125" b="0" i="1">
                <a:solidFill>
                  <a:srgbClr val="E6B978"/>
                </a:solidFill>
                <a:latin typeface="Georgia"/>
                <a:ea typeface="Georgia"/>
                <a:cs typeface="Georgia"/>
              </a:rPr>
              <a:t>A way forward</a:t>
            </a:r>
          </a:p>
        </p:txBody>
      </p:sp>
      <p:sp>
        <p:nvSpPr>
          <p:cNvPr id="5" name="Intelligent travel disruption recovery">
            <a:extLst xmlns:a="http://schemas.openxmlformats.org/drawingml/2006/main">
              <a:ext uri="{FF2B5EF4-FFF2-40B4-BE49-F238E27FC236}">
                <a16:creationId xmlns:a16="http://schemas.microsoft.com/office/drawing/2014/main" id="{7F95767E-9AE2-4C37-82F3-8C6CAEEA42F5}"/>
              </a:ext>
            </a:extLst>
          </p:cNvPr>
          <p:cNvSpPr>
            <a:spLocks xmlns:a="http://schemas.openxmlformats.org/drawingml/2006/main" noGrp="1"/>
          </p:cNvSpPr>
          <p:nvPr/>
        </p:nvSpPr>
        <p:spPr>
          <a:xfrm xmlns:a="http://schemas.openxmlformats.org/drawingml/2006/main">
            <a:off x="647700" y="3905250"/>
            <a:ext cx="4619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F8F7F3"/>
                </a:solidFill>
                <a:latin typeface="Arial"/>
                <a:ea typeface="Arial"/>
                <a:cs typeface="Arial"/>
              </a:defRPr>
            </a:pPr>
            <a:r>
              <a:rPr sz="2250" b="0">
                <a:solidFill>
                  <a:srgbClr val="F8F7F3"/>
                </a:solidFill>
                <a:latin typeface="Arial"/>
                <a:ea typeface="Arial"/>
                <a:cs typeface="Arial"/>
              </a:rPr>
              <a:t>Intelligent travel disruption recovery</a:t>
            </a:r>
          </a:p>
        </p:txBody>
      </p:sp>
      <p:sp>
        <p:nvSpPr>
          <p:cNvPr id="6" name="PS ID 2&#10;Hackathon prototype">
            <a:extLst xmlns:a="http://schemas.openxmlformats.org/drawingml/2006/main">
              <a:ext uri="{FF2B5EF4-FFF2-40B4-BE49-F238E27FC236}">
                <a16:creationId xmlns:a16="http://schemas.microsoft.com/office/drawing/2014/main" id="{8A95B30A-35DE-4D43-BE25-234C1C065298}"/>
              </a:ext>
            </a:extLst>
          </p:cNvPr>
          <p:cNvSpPr>
            <a:spLocks xmlns:a="http://schemas.openxmlformats.org/drawingml/2006/main" noGrp="1"/>
          </p:cNvSpPr>
          <p:nvPr/>
        </p:nvSpPr>
        <p:spPr>
          <a:xfrm xmlns:a="http://schemas.openxmlformats.org/drawingml/2006/main">
            <a:off x="647700" y="5353050"/>
            <a:ext cx="4572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BDD0C5"/>
                </a:solidFill>
                <a:latin typeface="Arial"/>
                <a:ea typeface="Arial"/>
                <a:cs typeface="Arial"/>
              </a:defRPr>
            </a:pPr>
            <a:r>
              <a:rPr sz="1500" b="0">
                <a:solidFill>
                  <a:srgbClr val="BDD0C5"/>
                </a:solidFill>
                <a:latin typeface="Arial"/>
                <a:ea typeface="Arial"/>
                <a:cs typeface="Arial"/>
              </a:rPr>
              <a:t>PS ID 2</a:t>
            </a:r>
          </a:p>
          <a:p xmlns:a="http://schemas.openxmlformats.org/drawingml/2006/main">
            <a:pPr>
              <a:defRPr sz="1500" b="0">
                <a:solidFill>
                  <a:srgbClr val="BDD0C5"/>
                </a:solidFill>
                <a:latin typeface="Arial"/>
                <a:ea typeface="Arial"/>
                <a:cs typeface="Arial"/>
              </a:defRPr>
            </a:pPr>
            <a:r>
              <a:rPr sz="1500" b="0">
                <a:solidFill>
                  <a:srgbClr val="BDD0C5"/>
                </a:solidFill>
                <a:latin typeface="Arial"/>
                <a:ea typeface="Arial"/>
                <a:cs typeface="Arial"/>
              </a:rPr>
              <a:t>Hackathon prototype</a:t>
            </a:r>
          </a:p>
        </p:txBody>
      </p:sp>
    </p:spTree>
    <p:extLst>
      <p:ext uri="{BB962C8B-B14F-4D97-AF65-F5344CB8AC3E}">
        <p14:creationId xmlns:p14="http://schemas.microsoft.com/office/powerpoint/2010/main" val="884813642"/>
      </p:ext>
    </p:extLst>
  </p:cSld>
</p:sld>
</file>

<file path=ppt/slides/slide2.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9" name="One delay puts the whole day at risk">
            <a:extLst xmlns:a="http://schemas.openxmlformats.org/drawingml/2006/main">
              <a:ext uri="{FF2B5EF4-FFF2-40B4-BE49-F238E27FC236}">
                <a16:creationId xmlns:a16="http://schemas.microsoft.com/office/drawing/2014/main" id="{EAEB9655-327A-4EB2-966D-4C9C24660AFF}"/>
              </a:ext>
            </a:extLst>
          </p:cNvPr>
          <p:cNvSpPr>
            <a:spLocks xmlns:a="http://schemas.openxmlformats.org/drawingml/2006/main" noGrp="1"/>
          </p:cNvSpPr>
          <p:nvPr/>
        </p:nvSpPr>
        <p:spPr>
          <a:xfrm xmlns:a="http://schemas.openxmlformats.org/drawingml/2006/main">
            <a:off x="609600" y="638175"/>
            <a:ext cx="10953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1">
                <a:solidFill>
                  <a:srgbClr val="233D39"/>
                </a:solidFill>
                <a:latin typeface="Arial"/>
                <a:ea typeface="Arial"/>
                <a:cs typeface="Arial"/>
              </a:defRPr>
            </a:pPr>
            <a:r>
              <a:rPr sz="4050" b="1">
                <a:solidFill>
                  <a:srgbClr val="233D39"/>
                </a:solidFill>
                <a:latin typeface="Arial"/>
                <a:ea typeface="Arial"/>
                <a:cs typeface="Arial"/>
              </a:rPr>
              <a:t>One delay puts the whole day at risk</a:t>
            </a:r>
          </a:p>
        </p:txBody>
      </p:sp>
      <p:sp>
        <p:nvSpPr>
          <p:cNvPr id="2" name="RAAHI">
            <a:extLst xmlns:a="http://schemas.openxmlformats.org/drawingml/2006/main">
              <a:ext uri="{FF2B5EF4-FFF2-40B4-BE49-F238E27FC236}">
                <a16:creationId xmlns:a16="http://schemas.microsoft.com/office/drawing/2014/main" id="{3334C198-EE58-4336-A3F9-8B94D72EC29B}"/>
              </a:ext>
            </a:extLst>
          </p:cNvPr>
          <p:cNvSpPr>
            <a:spLocks xmlns:a="http://schemas.openxmlformats.org/drawingml/2006/main" noGrp="1"/>
          </p:cNvSpPr>
          <p:nvPr/>
        </p:nvSpPr>
        <p:spPr>
          <a:xfrm xmlns:a="http://schemas.openxmlformats.org/drawingml/2006/main">
            <a:off x="609600" y="6334125"/>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050" b="1">
                <a:solidFill>
                  <a:srgbClr val="61736B"/>
                </a:solidFill>
                <a:latin typeface="Arial"/>
                <a:ea typeface="Arial"/>
                <a:cs typeface="Arial"/>
              </a:defRPr>
            </a:pPr>
            <a:r>
              <a:rPr sz="1050" b="1">
                <a:solidFill>
                  <a:srgbClr val="61736B"/>
                </a:solidFill>
                <a:latin typeface="Arial"/>
                <a:ea typeface="Arial"/>
                <a:cs typeface="Arial"/>
              </a:rPr>
              <a:t>RAAHI</a:t>
            </a:r>
          </a:p>
        </p:txBody>
      </p:sp>
      <p:sp>
        <p:nvSpPr>
          <p:cNvPr id="3" name="02">
            <a:extLst xmlns:a="http://schemas.openxmlformats.org/drawingml/2006/main">
              <a:ext uri="{FF2B5EF4-FFF2-40B4-BE49-F238E27FC236}">
                <a16:creationId xmlns:a16="http://schemas.microsoft.com/office/drawing/2014/main" id="{38467B45-2A21-41C4-8FBA-A6FFAC27A225}"/>
              </a:ext>
            </a:extLst>
          </p:cNvPr>
          <p:cNvSpPr>
            <a:spLocks xmlns:a="http://schemas.openxmlformats.org/drawingml/2006/main" noGrp="1"/>
          </p:cNvSpPr>
          <p:nvPr/>
        </p:nvSpPr>
        <p:spPr>
          <a:xfrm xmlns:a="http://schemas.openxmlformats.org/drawingml/2006/main">
            <a:off x="11049000" y="63341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050" b="0">
                <a:solidFill>
                  <a:srgbClr val="61736B"/>
                </a:solidFill>
                <a:latin typeface="Arial"/>
                <a:ea typeface="Arial"/>
                <a:cs typeface="Arial"/>
              </a:defRPr>
            </a:pPr>
            <a:r>
              <a:rPr sz="1050" b="0">
                <a:solidFill>
                  <a:srgbClr val="61736B"/>
                </a:solidFill>
                <a:latin typeface="Arial"/>
                <a:ea typeface="Arial"/>
                <a:cs typeface="Arial"/>
              </a:rPr>
              <a:t>02</a:t>
            </a:r>
          </a:p>
        </p:txBody>
      </p:sp>
      <p:sp>
        <p:nvSpPr>
          <p:cNvPr id="4" name="+3h">
            <a:extLst xmlns:a="http://schemas.openxmlformats.org/drawingml/2006/main">
              <a:ext uri="{FF2B5EF4-FFF2-40B4-BE49-F238E27FC236}">
                <a16:creationId xmlns:a16="http://schemas.microsoft.com/office/drawing/2014/main" id="{1B1A5AB7-CD18-4B03-B17C-4483213831C6}"/>
              </a:ext>
            </a:extLst>
          </p:cNvPr>
          <p:cNvSpPr>
            <a:spLocks xmlns:a="http://schemas.openxmlformats.org/drawingml/2006/main" noGrp="1"/>
          </p:cNvSpPr>
          <p:nvPr/>
        </p:nvSpPr>
        <p:spPr>
          <a:xfrm xmlns:a="http://schemas.openxmlformats.org/drawingml/2006/main">
            <a:off x="609600" y="2124075"/>
            <a:ext cx="44291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1850" b="1">
                <a:solidFill>
                  <a:srgbClr val="AD5D37"/>
                </a:solidFill>
                <a:latin typeface="Arial"/>
                <a:ea typeface="Arial"/>
                <a:cs typeface="Arial"/>
              </a:defRPr>
            </a:pPr>
            <a:r>
              <a:rPr sz="11850" b="1">
                <a:solidFill>
                  <a:srgbClr val="AD5D37"/>
                </a:solidFill>
                <a:latin typeface="Arial"/>
                <a:ea typeface="Arial"/>
                <a:cs typeface="Arial"/>
              </a:rPr>
              <a:t>+3h</a:t>
            </a:r>
          </a:p>
        </p:txBody>
      </p:sp>
      <p:sp>
        <p:nvSpPr>
          <p:cNvPr id="5" name="Mumbai–Goa flight delay">
            <a:extLst xmlns:a="http://schemas.openxmlformats.org/drawingml/2006/main">
              <a:ext uri="{FF2B5EF4-FFF2-40B4-BE49-F238E27FC236}">
                <a16:creationId xmlns:a16="http://schemas.microsoft.com/office/drawing/2014/main" id="{F384C41B-4094-44C7-AD26-4A19D2E7B00D}"/>
              </a:ext>
            </a:extLst>
          </p:cNvPr>
          <p:cNvSpPr>
            <a:spLocks xmlns:a="http://schemas.openxmlformats.org/drawingml/2006/main" noGrp="1"/>
          </p:cNvSpPr>
          <p:nvPr/>
        </p:nvSpPr>
        <p:spPr>
          <a:xfrm xmlns:a="http://schemas.openxmlformats.org/drawingml/2006/main">
            <a:off x="685800" y="4019550"/>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3D39"/>
                </a:solidFill>
                <a:latin typeface="Arial"/>
                <a:ea typeface="Arial"/>
                <a:cs typeface="Arial"/>
              </a:defRPr>
            </a:pPr>
            <a:r>
              <a:rPr sz="2025" b="1">
                <a:solidFill>
                  <a:srgbClr val="233D39"/>
                </a:solidFill>
                <a:latin typeface="Arial"/>
                <a:ea typeface="Arial"/>
                <a:cs typeface="Arial"/>
              </a:rPr>
              <a:t>Mumbai–Goa flight delay</a:t>
            </a:r>
          </a:p>
        </p:txBody>
      </p:sp>
      <p:sp>
        <p:nvSpPr>
          <p:cNvPr id="6" name="The traveler must rebuild the day across sepa">
            <a:extLst xmlns:a="http://schemas.openxmlformats.org/drawingml/2006/main">
              <a:ext uri="{FF2B5EF4-FFF2-40B4-BE49-F238E27FC236}">
                <a16:creationId xmlns:a16="http://schemas.microsoft.com/office/drawing/2014/main" id="{8C9499D5-F32A-4164-A53E-0783A5866373}"/>
              </a:ext>
            </a:extLst>
          </p:cNvPr>
          <p:cNvSpPr>
            <a:spLocks xmlns:a="http://schemas.openxmlformats.org/drawingml/2006/main" noGrp="1"/>
          </p:cNvSpPr>
          <p:nvPr/>
        </p:nvSpPr>
        <p:spPr>
          <a:xfrm xmlns:a="http://schemas.openxmlformats.org/drawingml/2006/main">
            <a:off x="685800" y="4695825"/>
            <a:ext cx="38100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61736B"/>
                </a:solidFill>
                <a:latin typeface="Arial"/>
                <a:ea typeface="Arial"/>
                <a:cs typeface="Arial"/>
              </a:defRPr>
            </a:pPr>
            <a:r>
              <a:rPr sz="2025" b="0">
                <a:solidFill>
                  <a:srgbClr val="61736B"/>
                </a:solidFill>
                <a:latin typeface="Arial"/>
                <a:ea typeface="Arial"/>
                <a:cs typeface="Arial"/>
              </a:rPr>
              <a:t>The traveler must rebuild the day across separate bookings.</a:t>
            </a:r>
          </a:p>
        </p:txBody>
      </p:sp>
      <p:graphicFrame>
        <p:nvGraphicFramePr>
          <p:cNvPr id="15" name=""/>
          <p:cNvGraphicFramePr/>
          <p:nvPr/>
        </p:nvGraphicFramePr>
        <p:xfrm>
          <a:off xmlns:a="http://schemas.openxmlformats.org/drawingml/2006/main" x="5334000" y="2171700"/>
          <a:ext xmlns:a="http://schemas.openxmlformats.org/drawingml/2006/main" cx="6248400" cy="3009900"/>
        </p:xfrm>
        <a:graphic xmlns:a="http://schemas.openxmlformats.org/drawingml/2006/main">
          <a:graphicData uri="http://schemas.openxmlformats.org/drawingml/2006/table">
            <a:tbl>
              <a:tblPr/>
              <a:tblGrid>
                <a:gridCol w="2190750"/>
                <a:gridCol w="4057650"/>
              </a:tblGrid>
              <a:tr h="752475">
                <a:tc>
                  <a:txBody>
                    <a:bodyPr lIns="171450" tIns="161925" rIns="133350" bIns="114300">
                      <a:noAutofit/>
                    </a:bodyPr>
                    <a:lstStyle/>
                    <a:p>
                      <a:r>
                        <a:rPr sz="1575" b="1">
                          <a:solidFill>
                            <a:srgbClr val="F8F7F3"/>
                          </a:solidFill>
                          <a:latin typeface="Arial"/>
                          <a:ea typeface="Arial"/>
                          <a:cs typeface="Arial"/>
                        </a:rPr>
                        <a:t>Booking</a:t>
                      </a:r>
                    </a:p>
                  </a:txBody>
                  <a:tcPr marL="91440" marR="91440" marT="45720" marB="45720" anchor="ctr">
                    <a:solidFill>
                      <a:srgbClr val="164D47"/>
                    </a:solidFill>
                  </a:tcPr>
                </a:tc>
                <a:tc>
                  <a:txBody>
                    <a:bodyPr lIns="171450" tIns="161925" rIns="133350" bIns="114300">
                      <a:noAutofit/>
                    </a:bodyPr>
                    <a:lstStyle/>
                    <a:p>
                      <a:r>
                        <a:rPr sz="1575" b="1">
                          <a:solidFill>
                            <a:srgbClr val="F8F7F3"/>
                          </a:solidFill>
                          <a:latin typeface="Arial"/>
                          <a:ea typeface="Arial"/>
                          <a:cs typeface="Arial"/>
                        </a:rPr>
                        <a:t>What breaks</a:t>
                      </a:r>
                    </a:p>
                  </a:txBody>
                  <a:tcPr marL="91440" marR="91440" marT="45720" marB="45720" anchor="ctr">
                    <a:solidFill>
                      <a:srgbClr val="164D47"/>
                    </a:solidFill>
                  </a:tcPr>
                </a:tc>
              </a:tr>
              <a:tr h="752475">
                <a:tc>
                  <a:txBody>
                    <a:bodyPr lIns="171450" tIns="161925" rIns="133350" bIns="114300">
                      <a:noAutofit/>
                    </a:bodyPr>
                    <a:lstStyle/>
                    <a:p>
                      <a:r>
                        <a:rPr sz="1800" b="1">
                          <a:solidFill>
                            <a:srgbClr val="233D39"/>
                          </a:solidFill>
                          <a:latin typeface="Arial"/>
                          <a:ea typeface="Arial"/>
                          <a:cs typeface="Arial"/>
                        </a:rPr>
                        <a:t>Airport shuttle</a:t>
                      </a:r>
                    </a:p>
                  </a:txBody>
                  <a:tcPr marL="91440" marR="91440" marT="45720" marB="45720" anchor="ctr">
                    <a:solidFill>
                      <a:srgbClr val="E7EDE3"/>
                    </a:solidFill>
                  </a:tcPr>
                </a:tc>
                <a:tc>
                  <a:txBody>
                    <a:bodyPr lIns="171450" tIns="161925" rIns="133350" bIns="114300">
                      <a:noAutofit/>
                    </a:bodyPr>
                    <a:lstStyle/>
                    <a:p>
                      <a:r>
                        <a:rPr sz="1800" b="0">
                          <a:solidFill>
                            <a:srgbClr val="233D39"/>
                          </a:solidFill>
                          <a:latin typeface="Arial"/>
                          <a:ea typeface="Arial"/>
                          <a:cs typeface="Arial"/>
                        </a:rPr>
                        <a:t>11:50 cutoff missed</a:t>
                      </a:r>
                    </a:p>
                  </a:txBody>
                  <a:tcPr marL="91440" marR="91440" marT="45720" marB="45720" anchor="ctr">
                    <a:solidFill>
                      <a:srgbClr val="E7EDE3"/>
                    </a:solidFill>
                  </a:tcPr>
                </a:tc>
              </a:tr>
              <a:tr h="752475">
                <a:tc>
                  <a:txBody>
                    <a:bodyPr lIns="171450" tIns="161925" rIns="133350" bIns="114300">
                      <a:noAutofit/>
                    </a:bodyPr>
                    <a:lstStyle/>
                    <a:p>
                      <a:r>
                        <a:rPr sz="1800" b="1">
                          <a:solidFill>
                            <a:srgbClr val="233D39"/>
                          </a:solidFill>
                          <a:latin typeface="Arial"/>
                          <a:ea typeface="Arial"/>
                          <a:cs typeface="Arial"/>
                        </a:rPr>
                        <a:t>Hotel check-in</a:t>
                      </a:r>
                    </a:p>
                  </a:txBody>
                  <a:tcPr marL="91440" marR="91440" marT="45720" marB="45720" anchor="ctr">
                    <a:solidFill>
                      <a:srgbClr val="F8F7F3"/>
                    </a:solidFill>
                  </a:tcPr>
                </a:tc>
                <a:tc>
                  <a:txBody>
                    <a:bodyPr lIns="171450" tIns="161925" rIns="133350" bIns="114300">
                      <a:noAutofit/>
                    </a:bodyPr>
                    <a:lstStyle/>
                    <a:p>
                      <a:r>
                        <a:rPr sz="1800" b="0">
                          <a:solidFill>
                            <a:srgbClr val="233D39"/>
                          </a:solidFill>
                          <a:latin typeface="Arial"/>
                          <a:ea typeface="Arial"/>
                          <a:cs typeface="Arial"/>
                        </a:rPr>
                        <a:t>Arrival plan disrupted</a:t>
                      </a:r>
                    </a:p>
                  </a:txBody>
                  <a:tcPr marL="91440" marR="91440" marT="45720" marB="45720" anchor="ctr">
                    <a:solidFill>
                      <a:srgbClr val="F8F7F3"/>
                    </a:solidFill>
                  </a:tcPr>
                </a:tc>
              </a:tr>
              <a:tr h="752475">
                <a:tc>
                  <a:txBody>
                    <a:bodyPr lIns="171450" tIns="161925" rIns="133350" bIns="114300">
                      <a:noAutofit/>
                    </a:bodyPr>
                    <a:lstStyle/>
                    <a:p>
                      <a:r>
                        <a:rPr sz="1800" b="1">
                          <a:solidFill>
                            <a:srgbClr val="233D39"/>
                          </a:solidFill>
                          <a:latin typeface="Arial"/>
                          <a:ea typeface="Arial"/>
                          <a:cs typeface="Arial"/>
                        </a:rPr>
                        <a:t>16:00 concert</a:t>
                      </a:r>
                    </a:p>
                  </a:txBody>
                  <a:tcPr marL="91440" marR="91440" marT="45720" marB="45720" anchor="ctr">
                    <a:solidFill>
                      <a:srgbClr val="E7EDE3"/>
                    </a:solidFill>
                  </a:tcPr>
                </a:tc>
                <a:tc>
                  <a:txBody>
                    <a:bodyPr lIns="171450" tIns="161925" rIns="133350" bIns="114300">
                      <a:noAutofit/>
                    </a:bodyPr>
                    <a:lstStyle/>
                    <a:p>
                      <a:r>
                        <a:rPr sz="1800" b="0">
                          <a:solidFill>
                            <a:srgbClr val="233D39"/>
                          </a:solidFill>
                          <a:latin typeface="Arial"/>
                          <a:ea typeface="Arial"/>
                          <a:cs typeface="Arial"/>
                        </a:rPr>
                        <a:t>Original plan no longer fits</a:t>
                      </a:r>
                    </a:p>
                  </a:txBody>
                  <a:tcPr marL="91440" marR="91440" marT="45720" marB="45720" anchor="ctr">
                    <a:solidFill>
                      <a:srgbClr val="E7EDE3"/>
                    </a:solidFill>
                  </a:tcPr>
                </a:tc>
              </a:tr>
            </a:tbl>
          </a:graphicData>
        </a:graphic>
      </p:graphicFrame>
      <p:sp>
        <p:nvSpPr>
          <p:cNvPr id="8" name="Illustrative trip: ready at the airport at 14">
            <a:extLst xmlns:a="http://schemas.openxmlformats.org/drawingml/2006/main">
              <a:ext uri="{FF2B5EF4-FFF2-40B4-BE49-F238E27FC236}">
                <a16:creationId xmlns:a16="http://schemas.microsoft.com/office/drawing/2014/main" id="{3A9EFBBF-6181-4E79-A16D-D9F0B5A74B22}"/>
              </a:ext>
            </a:extLst>
          </p:cNvPr>
          <p:cNvSpPr>
            <a:spLocks xmlns:a="http://schemas.openxmlformats.org/drawingml/2006/main" noGrp="1"/>
          </p:cNvSpPr>
          <p:nvPr/>
        </p:nvSpPr>
        <p:spPr>
          <a:xfrm xmlns:a="http://schemas.openxmlformats.org/drawingml/2006/main">
            <a:off x="5372100" y="5505450"/>
            <a:ext cx="609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75" b="0">
                <a:solidFill>
                  <a:srgbClr val="61736B"/>
                </a:solidFill>
                <a:latin typeface="Arial"/>
                <a:ea typeface="Arial"/>
                <a:cs typeface="Arial"/>
              </a:defRPr>
            </a:pPr>
            <a:r>
              <a:rPr sz="1575" b="0">
                <a:solidFill>
                  <a:srgbClr val="61736B"/>
                </a:solidFill>
                <a:latin typeface="Arial"/>
                <a:ea typeface="Arial"/>
                <a:cs typeface="Arial"/>
              </a:rPr>
              <a:t>Illustrative trip: ready at the airport at 14:30 after the delay.</a:t>
            </a:r>
          </a:p>
        </p:txBody>
      </p:sp>
    </p:spTree>
    <p:extLst>
      <p:ext uri="{BB962C8B-B14F-4D97-AF65-F5344CB8AC3E}">
        <p14:creationId xmlns:p14="http://schemas.microsoft.com/office/powerpoint/2010/main" val="1561556812"/>
      </p:ext>
    </p:extLst>
  </p:cSld>
</p:sld>
</file>

<file path=ppt/slides/slide3.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0" name="One workspace for the recovery">
            <a:extLst xmlns:a="http://schemas.openxmlformats.org/drawingml/2006/main">
              <a:ext uri="{FF2B5EF4-FFF2-40B4-BE49-F238E27FC236}">
                <a16:creationId xmlns:a16="http://schemas.microsoft.com/office/drawing/2014/main" id="{E95F1B76-D02F-4384-B93B-4DEFCD97A6CF}"/>
              </a:ext>
            </a:extLst>
          </p:cNvPr>
          <p:cNvSpPr>
            <a:spLocks xmlns:a="http://schemas.openxmlformats.org/drawingml/2006/main" noGrp="1"/>
          </p:cNvSpPr>
          <p:nvPr/>
        </p:nvSpPr>
        <p:spPr>
          <a:xfrm xmlns:a="http://schemas.openxmlformats.org/drawingml/2006/main">
            <a:off x="609600" y="638175"/>
            <a:ext cx="10953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1">
                <a:solidFill>
                  <a:srgbClr val="233D39"/>
                </a:solidFill>
                <a:latin typeface="Arial"/>
                <a:ea typeface="Arial"/>
                <a:cs typeface="Arial"/>
              </a:defRPr>
            </a:pPr>
            <a:r>
              <a:rPr sz="4050" b="1">
                <a:solidFill>
                  <a:srgbClr val="233D39"/>
                </a:solidFill>
                <a:latin typeface="Arial"/>
                <a:ea typeface="Arial"/>
                <a:cs typeface="Arial"/>
              </a:rPr>
              <a:t>One workspace for the recovery</a:t>
            </a:r>
          </a:p>
        </p:txBody>
      </p:sp>
      <p:sp>
        <p:nvSpPr>
          <p:cNvPr id="2" name="RAAHI">
            <a:extLst xmlns:a="http://schemas.openxmlformats.org/drawingml/2006/main">
              <a:ext uri="{FF2B5EF4-FFF2-40B4-BE49-F238E27FC236}">
                <a16:creationId xmlns:a16="http://schemas.microsoft.com/office/drawing/2014/main" id="{A4BB3E08-6955-45CA-8695-385BFD9CD85B}"/>
              </a:ext>
            </a:extLst>
          </p:cNvPr>
          <p:cNvSpPr>
            <a:spLocks xmlns:a="http://schemas.openxmlformats.org/drawingml/2006/main" noGrp="1"/>
          </p:cNvSpPr>
          <p:nvPr/>
        </p:nvSpPr>
        <p:spPr>
          <a:xfrm xmlns:a="http://schemas.openxmlformats.org/drawingml/2006/main">
            <a:off x="609600" y="6334125"/>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050" b="1">
                <a:solidFill>
                  <a:srgbClr val="61736B"/>
                </a:solidFill>
                <a:latin typeface="Arial"/>
                <a:ea typeface="Arial"/>
                <a:cs typeface="Arial"/>
              </a:defRPr>
            </a:pPr>
            <a:r>
              <a:rPr sz="1050" b="1">
                <a:solidFill>
                  <a:srgbClr val="61736B"/>
                </a:solidFill>
                <a:latin typeface="Arial"/>
                <a:ea typeface="Arial"/>
                <a:cs typeface="Arial"/>
              </a:rPr>
              <a:t>RAAHI</a:t>
            </a:r>
          </a:p>
        </p:txBody>
      </p:sp>
      <p:sp>
        <p:nvSpPr>
          <p:cNvPr id="3" name="03">
            <a:extLst xmlns:a="http://schemas.openxmlformats.org/drawingml/2006/main">
              <a:ext uri="{FF2B5EF4-FFF2-40B4-BE49-F238E27FC236}">
                <a16:creationId xmlns:a16="http://schemas.microsoft.com/office/drawing/2014/main" id="{E4991DCF-7D34-438C-93CF-BC5A3DCDFDF4}"/>
              </a:ext>
            </a:extLst>
          </p:cNvPr>
          <p:cNvSpPr>
            <a:spLocks xmlns:a="http://schemas.openxmlformats.org/drawingml/2006/main" noGrp="1"/>
          </p:cNvSpPr>
          <p:nvPr/>
        </p:nvSpPr>
        <p:spPr>
          <a:xfrm xmlns:a="http://schemas.openxmlformats.org/drawingml/2006/main">
            <a:off x="11049000" y="63341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050" b="0">
                <a:solidFill>
                  <a:srgbClr val="61736B"/>
                </a:solidFill>
                <a:latin typeface="Arial"/>
                <a:ea typeface="Arial"/>
                <a:cs typeface="Arial"/>
              </a:defRPr>
            </a:pPr>
            <a:r>
              <a:rPr sz="1050" b="0">
                <a:solidFill>
                  <a:srgbClr val="61736B"/>
                </a:solidFill>
                <a:latin typeface="Arial"/>
                <a:ea typeface="Arial"/>
                <a:cs typeface="Arial"/>
              </a:rPr>
              <a:t>03</a:t>
            </a:r>
          </a:p>
        </p:txBody>
      </p:sp>
      <p:sp>
        <p:nvSpPr>
          <p:cNvPr id="4" name="See the impact. Compare feasible plans. Revie">
            <a:extLst xmlns:a="http://schemas.openxmlformats.org/drawingml/2006/main">
              <a:ext uri="{FF2B5EF4-FFF2-40B4-BE49-F238E27FC236}">
                <a16:creationId xmlns:a16="http://schemas.microsoft.com/office/drawing/2014/main" id="{B6715D72-F843-4321-A472-044FAA62040D}"/>
              </a:ext>
            </a:extLst>
          </p:cNvPr>
          <p:cNvSpPr>
            <a:spLocks xmlns:a="http://schemas.openxmlformats.org/drawingml/2006/main" noGrp="1"/>
          </p:cNvSpPr>
          <p:nvPr/>
        </p:nvSpPr>
        <p:spPr>
          <a:xfrm xmlns:a="http://schemas.openxmlformats.org/drawingml/2006/main">
            <a:off x="609600" y="156210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61736B"/>
                </a:solidFill>
                <a:latin typeface="Arial"/>
                <a:ea typeface="Arial"/>
                <a:cs typeface="Arial"/>
              </a:defRPr>
            </a:pPr>
            <a:r>
              <a:rPr sz="1950" b="0">
                <a:solidFill>
                  <a:srgbClr val="61736B"/>
                </a:solidFill>
                <a:latin typeface="Arial"/>
                <a:ea typeface="Arial"/>
                <a:cs typeface="Arial"/>
              </a:rPr>
              <a:t>See the impact. Compare feasible plans. Review every change.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7e2eea3961f4381"/>
          <a:stretch xmlns:a="http://schemas.openxmlformats.org/drawingml/2006/main"/>
        </p:blipFill>
        <p:spPr>
          <a:xfrm xmlns:a="http://schemas.openxmlformats.org/drawingml/2006/main">
            <a:off x="3499184" y="2095500"/>
            <a:ext cx="7670132" cy="4048125"/>
          </a:xfrm>
          <a:prstGeom xmlns:a="http://schemas.openxmlformats.org/drawingml/2006/main" prst="rect">
            <a:avLst/>
          </a:prstGeom>
        </p:spPr>
      </p:pic>
      <p:sp>
        <p:nvSpPr>
          <p:cNvPr id="6" name="CONNECTED&#10;ITINERARY">
            <a:extLst xmlns:a="http://schemas.openxmlformats.org/drawingml/2006/main">
              <a:ext uri="{FF2B5EF4-FFF2-40B4-BE49-F238E27FC236}">
                <a16:creationId xmlns:a16="http://schemas.microsoft.com/office/drawing/2014/main" id="{FCC25FD8-6657-491C-A5AB-FD949EB092EE}"/>
              </a:ext>
            </a:extLst>
          </p:cNvPr>
          <p:cNvSpPr>
            <a:spLocks xmlns:a="http://schemas.openxmlformats.org/drawingml/2006/main" noGrp="1"/>
          </p:cNvSpPr>
          <p:nvPr/>
        </p:nvSpPr>
        <p:spPr>
          <a:xfrm xmlns:a="http://schemas.openxmlformats.org/drawingml/2006/main">
            <a:off x="609600" y="2409825"/>
            <a:ext cx="20764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164D47"/>
                </a:solidFill>
                <a:latin typeface="Arial"/>
                <a:ea typeface="Arial"/>
                <a:cs typeface="Arial"/>
              </a:defRPr>
            </a:pPr>
            <a:r>
              <a:rPr sz="1800" b="1">
                <a:solidFill>
                  <a:srgbClr val="164D47"/>
                </a:solidFill>
                <a:latin typeface="Arial"/>
                <a:ea typeface="Arial"/>
                <a:cs typeface="Arial"/>
              </a:rPr>
              <a:t>CONNECTED</a:t>
            </a:r>
          </a:p>
          <a:p xmlns:a="http://schemas.openxmlformats.org/drawingml/2006/main">
            <a:pPr>
              <a:defRPr sz="1800" b="1">
                <a:solidFill>
                  <a:srgbClr val="164D47"/>
                </a:solidFill>
                <a:latin typeface="Arial"/>
                <a:ea typeface="Arial"/>
                <a:cs typeface="Arial"/>
              </a:defRPr>
            </a:pPr>
            <a:r>
              <a:rPr sz="1800" b="1">
                <a:solidFill>
                  <a:srgbClr val="164D47"/>
                </a:solidFill>
                <a:latin typeface="Arial"/>
                <a:ea typeface="Arial"/>
                <a:cs typeface="Arial"/>
              </a:rPr>
              <a:t>ITINERARY</a:t>
            </a:r>
          </a:p>
        </p:txBody>
      </p:sp>
      <p:sp>
        <p:nvSpPr>
          <p:cNvPr id="7" name="Visible dependencies&#10;and affected bookings">
            <a:extLst xmlns:a="http://schemas.openxmlformats.org/drawingml/2006/main">
              <a:ext uri="{FF2B5EF4-FFF2-40B4-BE49-F238E27FC236}">
                <a16:creationId xmlns:a16="http://schemas.microsoft.com/office/drawing/2014/main" id="{06401BCC-260E-4215-8C70-B5A044D2A63A}"/>
              </a:ext>
            </a:extLst>
          </p:cNvPr>
          <p:cNvSpPr>
            <a:spLocks xmlns:a="http://schemas.openxmlformats.org/drawingml/2006/main" noGrp="1"/>
          </p:cNvSpPr>
          <p:nvPr/>
        </p:nvSpPr>
        <p:spPr>
          <a:xfrm xmlns:a="http://schemas.openxmlformats.org/drawingml/2006/main">
            <a:off x="609600" y="3152775"/>
            <a:ext cx="2076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1736B"/>
                </a:solidFill>
                <a:latin typeface="Arial"/>
                <a:ea typeface="Arial"/>
                <a:cs typeface="Arial"/>
              </a:defRPr>
            </a:pPr>
            <a:r>
              <a:rPr sz="1725" b="0">
                <a:solidFill>
                  <a:srgbClr val="61736B"/>
                </a:solidFill>
                <a:latin typeface="Arial"/>
                <a:ea typeface="Arial"/>
                <a:cs typeface="Arial"/>
              </a:rPr>
              <a:t>Visible dependencies</a:t>
            </a:r>
          </a:p>
          <a:p xmlns:a="http://schemas.openxmlformats.org/drawingml/2006/main">
            <a:pPr>
              <a:defRPr sz="1725" b="0">
                <a:solidFill>
                  <a:srgbClr val="61736B"/>
                </a:solidFill>
                <a:latin typeface="Arial"/>
                <a:ea typeface="Arial"/>
                <a:cs typeface="Arial"/>
              </a:defRPr>
            </a:pPr>
            <a:r>
              <a:rPr sz="1725" b="0">
                <a:solidFill>
                  <a:srgbClr val="61736B"/>
                </a:solidFill>
                <a:latin typeface="Arial"/>
                <a:ea typeface="Arial"/>
                <a:cs typeface="Arial"/>
              </a:rPr>
              <a:t>and affected bookings</a:t>
            </a:r>
          </a:p>
        </p:txBody>
      </p:sp>
      <p:sp>
        <p:nvSpPr>
          <p:cNvPr id="8" name="CLEAR CHOICES">
            <a:extLst xmlns:a="http://schemas.openxmlformats.org/drawingml/2006/main">
              <a:ext uri="{FF2B5EF4-FFF2-40B4-BE49-F238E27FC236}">
                <a16:creationId xmlns:a16="http://schemas.microsoft.com/office/drawing/2014/main" id="{BC03B122-EC8F-4B07-861C-D05AA1106B4F}"/>
              </a:ext>
            </a:extLst>
          </p:cNvPr>
          <p:cNvSpPr>
            <a:spLocks xmlns:a="http://schemas.openxmlformats.org/drawingml/2006/main" noGrp="1"/>
          </p:cNvSpPr>
          <p:nvPr/>
        </p:nvSpPr>
        <p:spPr>
          <a:xfrm xmlns:a="http://schemas.openxmlformats.org/drawingml/2006/main">
            <a:off x="609600" y="4305300"/>
            <a:ext cx="2076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164D47"/>
                </a:solidFill>
                <a:latin typeface="Arial"/>
                <a:ea typeface="Arial"/>
                <a:cs typeface="Arial"/>
              </a:defRPr>
            </a:pPr>
            <a:r>
              <a:rPr sz="1800" b="1">
                <a:solidFill>
                  <a:srgbClr val="164D47"/>
                </a:solidFill>
                <a:latin typeface="Arial"/>
                <a:ea typeface="Arial"/>
                <a:cs typeface="Arial"/>
              </a:rPr>
              <a:t>CLEAR CHOICES</a:t>
            </a:r>
          </a:p>
        </p:txBody>
      </p:sp>
      <p:sp>
        <p:nvSpPr>
          <p:cNvPr id="9" name="Cash, event timing&#10;and time to rest">
            <a:extLst xmlns:a="http://schemas.openxmlformats.org/drawingml/2006/main">
              <a:ext uri="{FF2B5EF4-FFF2-40B4-BE49-F238E27FC236}">
                <a16:creationId xmlns:a16="http://schemas.microsoft.com/office/drawing/2014/main" id="{53FC31E5-D64D-444B-8ED5-A100D61F03E7}"/>
              </a:ext>
            </a:extLst>
          </p:cNvPr>
          <p:cNvSpPr>
            <a:spLocks xmlns:a="http://schemas.openxmlformats.org/drawingml/2006/main" noGrp="1"/>
          </p:cNvSpPr>
          <p:nvPr/>
        </p:nvSpPr>
        <p:spPr>
          <a:xfrm xmlns:a="http://schemas.openxmlformats.org/drawingml/2006/main">
            <a:off x="609600" y="4800600"/>
            <a:ext cx="20764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1736B"/>
                </a:solidFill>
                <a:latin typeface="Arial"/>
                <a:ea typeface="Arial"/>
                <a:cs typeface="Arial"/>
              </a:defRPr>
            </a:pPr>
            <a:r>
              <a:rPr sz="1725" b="0">
                <a:solidFill>
                  <a:srgbClr val="61736B"/>
                </a:solidFill>
                <a:latin typeface="Arial"/>
                <a:ea typeface="Arial"/>
                <a:cs typeface="Arial"/>
              </a:rPr>
              <a:t>Cash, event timing</a:t>
            </a:r>
          </a:p>
          <a:p xmlns:a="http://schemas.openxmlformats.org/drawingml/2006/main">
            <a:pPr>
              <a:defRPr sz="1725" b="0">
                <a:solidFill>
                  <a:srgbClr val="61736B"/>
                </a:solidFill>
                <a:latin typeface="Arial"/>
                <a:ea typeface="Arial"/>
                <a:cs typeface="Arial"/>
              </a:defRPr>
            </a:pPr>
            <a:r>
              <a:rPr sz="1725" b="0">
                <a:solidFill>
                  <a:srgbClr val="61736B"/>
                </a:solidFill>
                <a:latin typeface="Arial"/>
                <a:ea typeface="Arial"/>
                <a:cs typeface="Arial"/>
              </a:rPr>
              <a:t>and time to rest</a:t>
            </a:r>
          </a:p>
        </p:txBody>
      </p:sp>
    </p:spTree>
    <p:extLst>
      <p:ext uri="{BB962C8B-B14F-4D97-AF65-F5344CB8AC3E}">
        <p14:creationId xmlns:p14="http://schemas.microsoft.com/office/powerpoint/2010/main" val="1433448057"/>
      </p:ext>
    </p:extLst>
  </p:cSld>
</p:sld>
</file>

<file path=ppt/slides/slide4.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Connected bookings reveal the ripple effect">
            <a:extLst xmlns:a="http://schemas.openxmlformats.org/drawingml/2006/main">
              <a:ext uri="{FF2B5EF4-FFF2-40B4-BE49-F238E27FC236}">
                <a16:creationId xmlns:a16="http://schemas.microsoft.com/office/drawing/2014/main" id="{F68D8B90-8A33-4703-BA50-4690585280CC}"/>
              </a:ext>
            </a:extLst>
          </p:cNvPr>
          <p:cNvSpPr>
            <a:spLocks xmlns:a="http://schemas.openxmlformats.org/drawingml/2006/main" noGrp="1"/>
          </p:cNvSpPr>
          <p:nvPr/>
        </p:nvSpPr>
        <p:spPr>
          <a:xfrm xmlns:a="http://schemas.openxmlformats.org/drawingml/2006/main">
            <a:off x="609600" y="638175"/>
            <a:ext cx="10953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1">
                <a:solidFill>
                  <a:srgbClr val="233D39"/>
                </a:solidFill>
                <a:latin typeface="Arial"/>
                <a:ea typeface="Arial"/>
                <a:cs typeface="Arial"/>
              </a:defRPr>
            </a:pPr>
            <a:r>
              <a:rPr sz="4050" b="1">
                <a:solidFill>
                  <a:srgbClr val="233D39"/>
                </a:solidFill>
                <a:latin typeface="Arial"/>
                <a:ea typeface="Arial"/>
                <a:cs typeface="Arial"/>
              </a:rPr>
              <a:t>Connected bookings reveal the ripple effect</a:t>
            </a:r>
          </a:p>
        </p:txBody>
      </p:sp>
      <p:sp>
        <p:nvSpPr>
          <p:cNvPr id="2" name="RAAHI">
            <a:extLst xmlns:a="http://schemas.openxmlformats.org/drawingml/2006/main">
              <a:ext uri="{FF2B5EF4-FFF2-40B4-BE49-F238E27FC236}">
                <a16:creationId xmlns:a16="http://schemas.microsoft.com/office/drawing/2014/main" id="{BF1A356E-9FCA-425C-B4D2-A59AFF2FB02C}"/>
              </a:ext>
            </a:extLst>
          </p:cNvPr>
          <p:cNvSpPr>
            <a:spLocks xmlns:a="http://schemas.openxmlformats.org/drawingml/2006/main" noGrp="1"/>
          </p:cNvSpPr>
          <p:nvPr/>
        </p:nvSpPr>
        <p:spPr>
          <a:xfrm xmlns:a="http://schemas.openxmlformats.org/drawingml/2006/main">
            <a:off x="609600" y="6334125"/>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050" b="1">
                <a:solidFill>
                  <a:srgbClr val="61736B"/>
                </a:solidFill>
                <a:latin typeface="Arial"/>
                <a:ea typeface="Arial"/>
                <a:cs typeface="Arial"/>
              </a:defRPr>
            </a:pPr>
            <a:r>
              <a:rPr sz="1050" b="1">
                <a:solidFill>
                  <a:srgbClr val="61736B"/>
                </a:solidFill>
                <a:latin typeface="Arial"/>
                <a:ea typeface="Arial"/>
                <a:cs typeface="Arial"/>
              </a:rPr>
              <a:t>RAAHI</a:t>
            </a:r>
          </a:p>
        </p:txBody>
      </p:sp>
      <p:sp>
        <p:nvSpPr>
          <p:cNvPr id="3" name="04">
            <a:extLst xmlns:a="http://schemas.openxmlformats.org/drawingml/2006/main">
              <a:ext uri="{FF2B5EF4-FFF2-40B4-BE49-F238E27FC236}">
                <a16:creationId xmlns:a16="http://schemas.microsoft.com/office/drawing/2014/main" id="{9BB8D10D-9C15-422A-A97E-7B3A0A30E82D}"/>
              </a:ext>
            </a:extLst>
          </p:cNvPr>
          <p:cNvSpPr>
            <a:spLocks xmlns:a="http://schemas.openxmlformats.org/drawingml/2006/main" noGrp="1"/>
          </p:cNvSpPr>
          <p:nvPr/>
        </p:nvSpPr>
        <p:spPr>
          <a:xfrm xmlns:a="http://schemas.openxmlformats.org/drawingml/2006/main">
            <a:off x="11049000" y="63341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050" b="0">
                <a:solidFill>
                  <a:srgbClr val="61736B"/>
                </a:solidFill>
                <a:latin typeface="Arial"/>
                <a:ea typeface="Arial"/>
                <a:cs typeface="Arial"/>
              </a:defRPr>
            </a:pPr>
            <a:r>
              <a:rPr sz="1050" b="0">
                <a:solidFill>
                  <a:srgbClr val="61736B"/>
                </a:solidFill>
                <a:latin typeface="Arial"/>
                <a:ea typeface="Arial"/>
                <a:cs typeface="Arial"/>
              </a:rPr>
              <a:t>04</a:t>
            </a:r>
          </a:p>
        </p:txBody>
      </p:sp>
      <p:sp>
        <p:nvSpPr>
          <p:cNvPr id="4" name="Each segment carries timing, location and dep">
            <a:extLst xmlns:a="http://schemas.openxmlformats.org/drawingml/2006/main">
              <a:ext uri="{FF2B5EF4-FFF2-40B4-BE49-F238E27FC236}">
                <a16:creationId xmlns:a16="http://schemas.microsoft.com/office/drawing/2014/main" id="{100B3A42-9865-45DD-93E6-72990B8D068E}"/>
              </a:ext>
            </a:extLst>
          </p:cNvPr>
          <p:cNvSpPr>
            <a:spLocks xmlns:a="http://schemas.openxmlformats.org/drawingml/2006/main" noGrp="1"/>
          </p:cNvSpPr>
          <p:nvPr/>
        </p:nvSpPr>
        <p:spPr>
          <a:xfrm xmlns:a="http://schemas.openxmlformats.org/drawingml/2006/main">
            <a:off x="609600" y="172402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61736B"/>
                </a:solidFill>
                <a:latin typeface="Arial"/>
                <a:ea typeface="Arial"/>
                <a:cs typeface="Arial"/>
              </a:defRPr>
            </a:pPr>
            <a:r>
              <a:rPr sz="2025" b="0">
                <a:solidFill>
                  <a:srgbClr val="61736B"/>
                </a:solidFill>
                <a:latin typeface="Arial"/>
                <a:ea typeface="Arial"/>
                <a:cs typeface="Arial"/>
              </a:rPr>
              <a:t>Each segment carries timing, location and dependency constraints.</a:t>
            </a:r>
          </a:p>
        </p:txBody>
      </p:sp>
      <p:graphicFrame>
        <p:nvGraphicFramePr>
          <p:cNvPr id="11" name=""/>
          <p:cNvGraphicFramePr/>
          <p:nvPr/>
        </p:nvGraphicFramePr>
        <p:xfrm>
          <a:off xmlns:a="http://schemas.openxmlformats.org/drawingml/2006/main" x="609600" y="2571750"/>
          <a:ext xmlns:a="http://schemas.openxmlformats.org/drawingml/2006/main" cx="10972800" cy="2876550"/>
        </p:xfrm>
        <a:graphic xmlns:a="http://schemas.openxmlformats.org/drawingml/2006/main">
          <a:graphicData uri="http://schemas.openxmlformats.org/drawingml/2006/table">
            <a:tbl>
              <a:tblPr/>
              <a:tblGrid>
                <a:gridCol w="2333625"/>
                <a:gridCol w="3400425"/>
                <a:gridCol w="5238750"/>
              </a:tblGrid>
              <a:tr h="719138">
                <a:tc>
                  <a:txBody>
                    <a:bodyPr lIns="171450" tIns="161925" rIns="133350" bIns="114300">
                      <a:noAutofit/>
                    </a:bodyPr>
                    <a:lstStyle/>
                    <a:p>
                      <a:r>
                        <a:rPr sz="1575" b="1">
                          <a:solidFill>
                            <a:srgbClr val="F8F7F3"/>
                          </a:solidFill>
                          <a:latin typeface="Arial"/>
                          <a:ea typeface="Arial"/>
                          <a:cs typeface="Arial"/>
                        </a:rPr>
                        <a:t>Segment</a:t>
                      </a:r>
                    </a:p>
                  </a:txBody>
                  <a:tcPr marL="91440" marR="91440" marT="45720" marB="45720" anchor="ctr">
                    <a:solidFill>
                      <a:srgbClr val="164D47"/>
                    </a:solidFill>
                  </a:tcPr>
                </a:tc>
                <a:tc>
                  <a:txBody>
                    <a:bodyPr lIns="171450" tIns="161925" rIns="133350" bIns="114300">
                      <a:noAutofit/>
                    </a:bodyPr>
                    <a:lstStyle/>
                    <a:p>
                      <a:r>
                        <a:rPr sz="1575" b="1">
                          <a:solidFill>
                            <a:srgbClr val="F8F7F3"/>
                          </a:solidFill>
                          <a:latin typeface="Arial"/>
                          <a:ea typeface="Arial"/>
                          <a:cs typeface="Arial"/>
                        </a:rPr>
                        <a:t>Depends on</a:t>
                      </a:r>
                    </a:p>
                  </a:txBody>
                  <a:tcPr marL="91440" marR="91440" marT="45720" marB="45720" anchor="ctr">
                    <a:solidFill>
                      <a:srgbClr val="164D47"/>
                    </a:solidFill>
                  </a:tcPr>
                </a:tc>
                <a:tc>
                  <a:txBody>
                    <a:bodyPr lIns="171450" tIns="161925" rIns="133350" bIns="114300">
                      <a:noAutofit/>
                    </a:bodyPr>
                    <a:lstStyle/>
                    <a:p>
                      <a:r>
                        <a:rPr sz="1575" b="1">
                          <a:solidFill>
                            <a:srgbClr val="F8F7F3"/>
                          </a:solidFill>
                          <a:latin typeface="Arial"/>
                          <a:ea typeface="Arial"/>
                          <a:cs typeface="Arial"/>
                        </a:rPr>
                        <a:t>Constraint Raahi checks</a:t>
                      </a:r>
                    </a:p>
                  </a:txBody>
                  <a:tcPr marL="91440" marR="91440" marT="45720" marB="45720" anchor="ctr">
                    <a:solidFill>
                      <a:srgbClr val="164D47"/>
                    </a:solidFill>
                  </a:tcPr>
                </a:tc>
              </a:tr>
              <a:tr h="719138">
                <a:tc>
                  <a:txBody>
                    <a:bodyPr lIns="171450" tIns="161925" rIns="133350" bIns="114300">
                      <a:noAutofit/>
                    </a:bodyPr>
                    <a:lstStyle/>
                    <a:p>
                      <a:r>
                        <a:rPr sz="1800" b="1">
                          <a:solidFill>
                            <a:srgbClr val="233D39"/>
                          </a:solidFill>
                          <a:latin typeface="Arial"/>
                          <a:ea typeface="Arial"/>
                          <a:cs typeface="Arial"/>
                        </a:rPr>
                        <a:t>Airport shuttle</a:t>
                      </a:r>
                    </a:p>
                  </a:txBody>
                  <a:tcPr marL="91440" marR="91440" marT="45720" marB="45720" anchor="ctr">
                    <a:solidFill>
                      <a:srgbClr val="E7EDE3"/>
                    </a:solidFill>
                  </a:tcPr>
                </a:tc>
                <a:tc>
                  <a:txBody>
                    <a:bodyPr lIns="171450" tIns="161925" rIns="133350" bIns="114300">
                      <a:noAutofit/>
                    </a:bodyPr>
                    <a:lstStyle/>
                    <a:p>
                      <a:r>
                        <a:rPr sz="1800" b="0">
                          <a:solidFill>
                            <a:srgbClr val="233D39"/>
                          </a:solidFill>
                          <a:latin typeface="Arial"/>
                          <a:ea typeface="Arial"/>
                          <a:cs typeface="Arial"/>
                        </a:rPr>
                        <a:t>Flight and airport exit</a:t>
                      </a:r>
                    </a:p>
                  </a:txBody>
                  <a:tcPr marL="91440" marR="91440" marT="45720" marB="45720" anchor="ctr">
                    <a:solidFill>
                      <a:srgbClr val="E7EDE3"/>
                    </a:solidFill>
                  </a:tcPr>
                </a:tc>
                <a:tc>
                  <a:txBody>
                    <a:bodyPr lIns="171450" tIns="161925" rIns="133350" bIns="114300">
                      <a:noAutofit/>
                    </a:bodyPr>
                    <a:lstStyle/>
                    <a:p>
                      <a:r>
                        <a:rPr sz="1800" b="0">
                          <a:solidFill>
                            <a:srgbClr val="233D39"/>
                          </a:solidFill>
                          <a:latin typeface="Arial"/>
                          <a:ea typeface="Arial"/>
                          <a:cs typeface="Arial"/>
                        </a:rPr>
                        <a:t>Ready before the pickup cutoff</a:t>
                      </a:r>
                    </a:p>
                  </a:txBody>
                  <a:tcPr marL="91440" marR="91440" marT="45720" marB="45720" anchor="ctr">
                    <a:solidFill>
                      <a:srgbClr val="E7EDE3"/>
                    </a:solidFill>
                  </a:tcPr>
                </a:tc>
              </a:tr>
              <a:tr h="719138">
                <a:tc>
                  <a:txBody>
                    <a:bodyPr lIns="171450" tIns="161925" rIns="133350" bIns="114300">
                      <a:noAutofit/>
                    </a:bodyPr>
                    <a:lstStyle/>
                    <a:p>
                      <a:r>
                        <a:rPr sz="1800" b="1">
                          <a:solidFill>
                            <a:srgbClr val="233D39"/>
                          </a:solidFill>
                          <a:latin typeface="Arial"/>
                          <a:ea typeface="Arial"/>
                          <a:cs typeface="Arial"/>
                        </a:rPr>
                        <a:t>Hotel check-in</a:t>
                      </a:r>
                    </a:p>
                  </a:txBody>
                  <a:tcPr marL="91440" marR="91440" marT="45720" marB="45720" anchor="ctr">
                    <a:solidFill>
                      <a:srgbClr val="F8F7F3"/>
                    </a:solidFill>
                  </a:tcPr>
                </a:tc>
                <a:tc>
                  <a:txBody>
                    <a:bodyPr lIns="171450" tIns="161925" rIns="133350" bIns="114300">
                      <a:noAutofit/>
                    </a:bodyPr>
                    <a:lstStyle/>
                    <a:p>
                      <a:r>
                        <a:rPr sz="1800" b="0">
                          <a:solidFill>
                            <a:srgbClr val="233D39"/>
                          </a:solidFill>
                          <a:latin typeface="Arial"/>
                          <a:ea typeface="Arial"/>
                          <a:cs typeface="Arial"/>
                        </a:rPr>
                        <a:t>Transfer to the hotel</a:t>
                      </a:r>
                    </a:p>
                  </a:txBody>
                  <a:tcPr marL="91440" marR="91440" marT="45720" marB="45720" anchor="ctr">
                    <a:solidFill>
                      <a:srgbClr val="F8F7F3"/>
                    </a:solidFill>
                  </a:tcPr>
                </a:tc>
                <a:tc>
                  <a:txBody>
                    <a:bodyPr lIns="171450" tIns="161925" rIns="133350" bIns="114300">
                      <a:noAutofit/>
                    </a:bodyPr>
                    <a:lstStyle/>
                    <a:p>
                      <a:r>
                        <a:rPr sz="1800" b="0">
                          <a:solidFill>
                            <a:srgbClr val="233D39"/>
                          </a:solidFill>
                          <a:latin typeface="Arial"/>
                          <a:ea typeface="Arial"/>
                          <a:cs typeface="Arial"/>
                        </a:rPr>
                        <a:t>Arrival inside the check-in window</a:t>
                      </a:r>
                    </a:p>
                  </a:txBody>
                  <a:tcPr marL="91440" marR="91440" marT="45720" marB="45720" anchor="ctr">
                    <a:solidFill>
                      <a:srgbClr val="F8F7F3"/>
                    </a:solidFill>
                  </a:tcPr>
                </a:tc>
              </a:tr>
              <a:tr h="719138">
                <a:tc>
                  <a:txBody>
                    <a:bodyPr lIns="171450" tIns="161925" rIns="133350" bIns="114300">
                      <a:noAutofit/>
                    </a:bodyPr>
                    <a:lstStyle/>
                    <a:p>
                      <a:r>
                        <a:rPr sz="1800" b="1">
                          <a:solidFill>
                            <a:srgbClr val="233D39"/>
                          </a:solidFill>
                          <a:latin typeface="Arial"/>
                          <a:ea typeface="Arial"/>
                          <a:cs typeface="Arial"/>
                        </a:rPr>
                        <a:t>Concert arrival</a:t>
                      </a:r>
                    </a:p>
                  </a:txBody>
                  <a:tcPr marL="91440" marR="91440" marT="45720" marB="45720" anchor="ctr">
                    <a:solidFill>
                      <a:srgbClr val="E7EDE3"/>
                    </a:solidFill>
                  </a:tcPr>
                </a:tc>
                <a:tc>
                  <a:txBody>
                    <a:bodyPr lIns="171450" tIns="161925" rIns="133350" bIns="114300">
                      <a:noAutofit/>
                    </a:bodyPr>
                    <a:lstStyle/>
                    <a:p>
                      <a:r>
                        <a:rPr sz="1800" b="0">
                          <a:solidFill>
                            <a:srgbClr val="233D39"/>
                          </a:solidFill>
                          <a:latin typeface="Arial"/>
                          <a:ea typeface="Arial"/>
                          <a:cs typeface="Arial"/>
                        </a:rPr>
                        <a:t>Transfers and luggage plan</a:t>
                      </a:r>
                    </a:p>
                  </a:txBody>
                  <a:tcPr marL="91440" marR="91440" marT="45720" marB="45720" anchor="ctr">
                    <a:solidFill>
                      <a:srgbClr val="E7EDE3"/>
                    </a:solidFill>
                  </a:tcPr>
                </a:tc>
                <a:tc>
                  <a:txBody>
                    <a:bodyPr lIns="171450" tIns="161925" rIns="133350" bIns="114300">
                      <a:noAutofit/>
                    </a:bodyPr>
                    <a:lstStyle/>
                    <a:p>
                      <a:r>
                        <a:rPr sz="1800" b="0">
                          <a:solidFill>
                            <a:srgbClr val="233D39"/>
                          </a:solidFill>
                          <a:latin typeface="Arial"/>
                          <a:ea typeface="Arial"/>
                          <a:cs typeface="Arial"/>
                        </a:rPr>
                        <a:t>At the venue before 15:45</a:t>
                      </a:r>
                    </a:p>
                  </a:txBody>
                  <a:tcPr marL="91440" marR="91440" marT="45720" marB="45720" anchor="ctr">
                    <a:solidFill>
                      <a:srgbClr val="E7EDE3"/>
                    </a:solidFill>
                  </a:tcPr>
                </a:tc>
              </a:tr>
            </a:tbl>
          </a:graphicData>
        </a:graphic>
      </p:graphicFrame>
      <p:sp>
        <p:nvSpPr>
          <p:cNvPr id="6" name="A feasible replacement must work across the e">
            <a:extLst xmlns:a="http://schemas.openxmlformats.org/drawingml/2006/main">
              <a:ext uri="{FF2B5EF4-FFF2-40B4-BE49-F238E27FC236}">
                <a16:creationId xmlns:a16="http://schemas.microsoft.com/office/drawing/2014/main" id="{1E3BC3EA-4BFE-487E-9AE2-0CF40832BA1E}"/>
              </a:ext>
            </a:extLst>
          </p:cNvPr>
          <p:cNvSpPr>
            <a:spLocks xmlns:a="http://schemas.openxmlformats.org/drawingml/2006/main" noGrp="1"/>
          </p:cNvSpPr>
          <p:nvPr/>
        </p:nvSpPr>
        <p:spPr>
          <a:xfrm xmlns:a="http://schemas.openxmlformats.org/drawingml/2006/main">
            <a:off x="609600" y="57340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164D47"/>
                </a:solidFill>
                <a:latin typeface="Arial"/>
                <a:ea typeface="Arial"/>
                <a:cs typeface="Arial"/>
              </a:defRPr>
            </a:pPr>
            <a:r>
              <a:rPr sz="2100" b="1">
                <a:solidFill>
                  <a:srgbClr val="164D47"/>
                </a:solidFill>
                <a:latin typeface="Arial"/>
                <a:ea typeface="Arial"/>
                <a:cs typeface="Arial"/>
              </a:rPr>
              <a:t>A feasible replacement must work across the entire route.</a:t>
            </a:r>
          </a:p>
        </p:txBody>
      </p:sp>
    </p:spTree>
    <p:extLst>
      <p:ext uri="{BB962C8B-B14F-4D97-AF65-F5344CB8AC3E}">
        <p14:creationId xmlns:p14="http://schemas.microsoft.com/office/powerpoint/2010/main" val="518636332"/>
      </p:ext>
    </p:extLst>
  </p:cSld>
</p:sld>
</file>

<file path=ppt/slides/slide5.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7" name="Three feasible plans for different priorities">
            <a:extLst xmlns:a="http://schemas.openxmlformats.org/drawingml/2006/main">
              <a:ext uri="{FF2B5EF4-FFF2-40B4-BE49-F238E27FC236}">
                <a16:creationId xmlns:a16="http://schemas.microsoft.com/office/drawing/2014/main" id="{5F7EE15C-3A71-45FC-BC94-A8FE4FA84FEB}"/>
              </a:ext>
            </a:extLst>
          </p:cNvPr>
          <p:cNvSpPr>
            <a:spLocks xmlns:a="http://schemas.openxmlformats.org/drawingml/2006/main" noGrp="1"/>
          </p:cNvSpPr>
          <p:nvPr/>
        </p:nvSpPr>
        <p:spPr>
          <a:xfrm xmlns:a="http://schemas.openxmlformats.org/drawingml/2006/main">
            <a:off x="609600" y="638175"/>
            <a:ext cx="10953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1">
                <a:solidFill>
                  <a:srgbClr val="233D39"/>
                </a:solidFill>
                <a:latin typeface="Arial"/>
                <a:ea typeface="Arial"/>
                <a:cs typeface="Arial"/>
              </a:defRPr>
            </a:pPr>
            <a:r>
              <a:rPr sz="4050" b="1">
                <a:solidFill>
                  <a:srgbClr val="233D39"/>
                </a:solidFill>
                <a:latin typeface="Arial"/>
                <a:ea typeface="Arial"/>
                <a:cs typeface="Arial"/>
              </a:rPr>
              <a:t>Three feasible plans for different priorities</a:t>
            </a:r>
          </a:p>
        </p:txBody>
      </p:sp>
      <p:sp>
        <p:nvSpPr>
          <p:cNvPr id="2" name="RAAHI">
            <a:extLst xmlns:a="http://schemas.openxmlformats.org/drawingml/2006/main">
              <a:ext uri="{FF2B5EF4-FFF2-40B4-BE49-F238E27FC236}">
                <a16:creationId xmlns:a16="http://schemas.microsoft.com/office/drawing/2014/main" id="{A5EC862A-D52C-4A71-826B-95D11099303A}"/>
              </a:ext>
            </a:extLst>
          </p:cNvPr>
          <p:cNvSpPr>
            <a:spLocks xmlns:a="http://schemas.openxmlformats.org/drawingml/2006/main" noGrp="1"/>
          </p:cNvSpPr>
          <p:nvPr/>
        </p:nvSpPr>
        <p:spPr>
          <a:xfrm xmlns:a="http://schemas.openxmlformats.org/drawingml/2006/main">
            <a:off x="609600" y="6334125"/>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050" b="1">
                <a:solidFill>
                  <a:srgbClr val="61736B"/>
                </a:solidFill>
                <a:latin typeface="Arial"/>
                <a:ea typeface="Arial"/>
                <a:cs typeface="Arial"/>
              </a:defRPr>
            </a:pPr>
            <a:r>
              <a:rPr sz="1050" b="1">
                <a:solidFill>
                  <a:srgbClr val="61736B"/>
                </a:solidFill>
                <a:latin typeface="Arial"/>
                <a:ea typeface="Arial"/>
                <a:cs typeface="Arial"/>
              </a:rPr>
              <a:t>RAAHI</a:t>
            </a:r>
          </a:p>
        </p:txBody>
      </p:sp>
      <p:sp>
        <p:nvSpPr>
          <p:cNvPr id="3" name="05">
            <a:extLst xmlns:a="http://schemas.openxmlformats.org/drawingml/2006/main">
              <a:ext uri="{FF2B5EF4-FFF2-40B4-BE49-F238E27FC236}">
                <a16:creationId xmlns:a16="http://schemas.microsoft.com/office/drawing/2014/main" id="{1849ADB2-800F-4DD9-BC74-10E66F2CCE52}"/>
              </a:ext>
            </a:extLst>
          </p:cNvPr>
          <p:cNvSpPr>
            <a:spLocks xmlns:a="http://schemas.openxmlformats.org/drawingml/2006/main" noGrp="1"/>
          </p:cNvSpPr>
          <p:nvPr/>
        </p:nvSpPr>
        <p:spPr>
          <a:xfrm xmlns:a="http://schemas.openxmlformats.org/drawingml/2006/main">
            <a:off x="11049000" y="63341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050" b="0">
                <a:solidFill>
                  <a:srgbClr val="61736B"/>
                </a:solidFill>
                <a:latin typeface="Arial"/>
                <a:ea typeface="Arial"/>
                <a:cs typeface="Arial"/>
              </a:defRPr>
            </a:pPr>
            <a:r>
              <a:rPr sz="1050" b="0">
                <a:solidFill>
                  <a:srgbClr val="61736B"/>
                </a:solidFill>
                <a:latin typeface="Arial"/>
                <a:ea typeface="Arial"/>
                <a:cs typeface="Arial"/>
              </a:rPr>
              <a:t>05</a:t>
            </a:r>
          </a:p>
        </p:txBody>
      </p:sp>
      <p:sp>
        <p:nvSpPr>
          <p:cNvPr id="4" name="Illustrative flight-delay scenario. Fixture p">
            <a:extLst xmlns:a="http://schemas.openxmlformats.org/drawingml/2006/main">
              <a:ext uri="{FF2B5EF4-FFF2-40B4-BE49-F238E27FC236}">
                <a16:creationId xmlns:a16="http://schemas.microsoft.com/office/drawing/2014/main" id="{F32028D4-6924-4223-99D9-506211EB6591}"/>
              </a:ext>
            </a:extLst>
          </p:cNvPr>
          <p:cNvSpPr>
            <a:spLocks xmlns:a="http://schemas.openxmlformats.org/drawingml/2006/main" noGrp="1"/>
          </p:cNvSpPr>
          <p:nvPr/>
        </p:nvSpPr>
        <p:spPr>
          <a:xfrm xmlns:a="http://schemas.openxmlformats.org/drawingml/2006/main">
            <a:off x="609600" y="17240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61736B"/>
                </a:solidFill>
                <a:latin typeface="Arial"/>
                <a:ea typeface="Arial"/>
                <a:cs typeface="Arial"/>
              </a:defRPr>
            </a:pPr>
            <a:r>
              <a:rPr sz="2025" b="0">
                <a:solidFill>
                  <a:srgbClr val="61736B"/>
                </a:solidFill>
                <a:latin typeface="Arial"/>
                <a:ea typeface="Arial"/>
                <a:cs typeface="Arial"/>
              </a:rPr>
              <a:t>Illustrative flight-delay scenario. Fixture prices in INR.</a:t>
            </a:r>
          </a:p>
        </p:txBody>
      </p:sp>
      <p:graphicFrame>
        <p:nvGraphicFramePr>
          <p:cNvPr id="11" name=""/>
          <p:cNvGraphicFramePr/>
          <p:nvPr/>
        </p:nvGraphicFramePr>
        <p:xfrm>
          <a:off xmlns:a="http://schemas.openxmlformats.org/drawingml/2006/main" x="609600" y="2600325"/>
          <a:ext xmlns:a="http://schemas.openxmlformats.org/drawingml/2006/main" cx="10972800" cy="2762250"/>
        </p:xfrm>
        <a:graphic xmlns:a="http://schemas.openxmlformats.org/drawingml/2006/main">
          <a:graphicData uri="http://schemas.openxmlformats.org/drawingml/2006/table">
            <a:tbl>
              <a:tblPr/>
              <a:tblGrid>
                <a:gridCol w="4048125"/>
                <a:gridCol w="2667000"/>
                <a:gridCol w="2381250"/>
                <a:gridCol w="1876425"/>
              </a:tblGrid>
              <a:tr h="690563">
                <a:tc>
                  <a:txBody>
                    <a:bodyPr lIns="171450" tIns="161925" rIns="133350" bIns="114300">
                      <a:noAutofit/>
                    </a:bodyPr>
                    <a:lstStyle/>
                    <a:p>
                      <a:r>
                        <a:rPr sz="1575" b="1">
                          <a:solidFill>
                            <a:srgbClr val="F8F7F3"/>
                          </a:solidFill>
                          <a:latin typeface="Arial"/>
                          <a:ea typeface="Arial"/>
                          <a:cs typeface="Arial"/>
                        </a:rPr>
                        <a:t>Recovery</a:t>
                      </a:r>
                    </a:p>
                  </a:txBody>
                  <a:tcPr marL="91440" marR="91440" marT="45720" marB="45720" anchor="ctr">
                    <a:solidFill>
                      <a:srgbClr val="164D47"/>
                    </a:solidFill>
                  </a:tcPr>
                </a:tc>
                <a:tc>
                  <a:txBody>
                    <a:bodyPr lIns="171450" tIns="161925" rIns="133350" bIns="114300">
                      <a:noAutofit/>
                    </a:bodyPr>
                    <a:lstStyle/>
                    <a:p>
                      <a:r>
                        <a:rPr sz="1575" b="1">
                          <a:solidFill>
                            <a:srgbClr val="F8F7F3"/>
                          </a:solidFill>
                          <a:latin typeface="Arial"/>
                          <a:ea typeface="Arial"/>
                          <a:cs typeface="Arial"/>
                        </a:rPr>
                        <a:t>Cash needed now</a:t>
                      </a:r>
                    </a:p>
                  </a:txBody>
                  <a:tcPr marL="91440" marR="91440" marT="45720" marB="45720" anchor="ctr">
                    <a:solidFill>
                      <a:srgbClr val="164D47"/>
                    </a:solidFill>
                  </a:tcPr>
                </a:tc>
                <a:tc>
                  <a:txBody>
                    <a:bodyPr lIns="171450" tIns="161925" rIns="133350" bIns="114300">
                      <a:noAutofit/>
                    </a:bodyPr>
                    <a:lstStyle/>
                    <a:p>
                      <a:r>
                        <a:rPr sz="1575" b="1">
                          <a:solidFill>
                            <a:srgbClr val="F8F7F3"/>
                          </a:solidFill>
                          <a:latin typeface="Arial"/>
                          <a:ea typeface="Arial"/>
                          <a:cs typeface="Arial"/>
                        </a:rPr>
                        <a:t>Concert</a:t>
                      </a:r>
                    </a:p>
                  </a:txBody>
                  <a:tcPr marL="91440" marR="91440" marT="45720" marB="45720" anchor="ctr">
                    <a:solidFill>
                      <a:srgbClr val="164D47"/>
                    </a:solidFill>
                  </a:tcPr>
                </a:tc>
                <a:tc>
                  <a:txBody>
                    <a:bodyPr lIns="171450" tIns="161925" rIns="133350" bIns="114300">
                      <a:noAutofit/>
                    </a:bodyPr>
                    <a:lstStyle/>
                    <a:p>
                      <a:r>
                        <a:rPr sz="1575" b="1">
                          <a:solidFill>
                            <a:srgbClr val="F8F7F3"/>
                          </a:solidFill>
                          <a:latin typeface="Arial"/>
                          <a:ea typeface="Arial"/>
                          <a:cs typeface="Arial"/>
                        </a:rPr>
                        <a:t>Hotel rest</a:t>
                      </a:r>
                    </a:p>
                  </a:txBody>
                  <a:tcPr marL="91440" marR="91440" marT="45720" marB="45720" anchor="ctr">
                    <a:solidFill>
                      <a:srgbClr val="164D47"/>
                    </a:solidFill>
                  </a:tcPr>
                </a:tc>
              </a:tr>
              <a:tr h="690563">
                <a:tc>
                  <a:txBody>
                    <a:bodyPr lIns="171450" tIns="161925" rIns="133350" bIns="114300">
                      <a:noAutofit/>
                    </a:bodyPr>
                    <a:lstStyle/>
                    <a:p>
                      <a:r>
                        <a:rPr sz="1800" b="1">
                          <a:solidFill>
                            <a:srgbClr val="233D39"/>
                          </a:solidFill>
                          <a:latin typeface="Arial"/>
                          <a:ea typeface="Arial"/>
                          <a:cs typeface="Arial"/>
                        </a:rPr>
                        <a:t>Spend less</a:t>
                      </a:r>
                    </a:p>
                  </a:txBody>
                  <a:tcPr marL="91440" marR="91440" marT="45720" marB="45720" anchor="ctr">
                    <a:solidFill>
                      <a:srgbClr val="E7EDE3"/>
                    </a:solidFill>
                  </a:tcPr>
                </a:tc>
                <a:tc>
                  <a:txBody>
                    <a:bodyPr lIns="171450" tIns="161925" rIns="133350" bIns="114300">
                      <a:noAutofit/>
                    </a:bodyPr>
                    <a:lstStyle/>
                    <a:p>
                      <a:r>
                        <a:rPr sz="1800" b="0">
                          <a:solidFill>
                            <a:srgbClr val="233D39"/>
                          </a:solidFill>
                          <a:latin typeface="Arial"/>
                          <a:ea typeface="Arial"/>
                          <a:cs typeface="Arial"/>
                        </a:rPr>
                        <a:t>₹800</a:t>
                      </a:r>
                    </a:p>
                  </a:txBody>
                  <a:tcPr marL="91440" marR="91440" marT="45720" marB="45720" anchor="ctr">
                    <a:solidFill>
                      <a:srgbClr val="E7EDE3"/>
                    </a:solidFill>
                  </a:tcPr>
                </a:tc>
                <a:tc>
                  <a:txBody>
                    <a:bodyPr lIns="171450" tIns="161925" rIns="133350" bIns="114300">
                      <a:noAutofit/>
                    </a:bodyPr>
                    <a:lstStyle/>
                    <a:p>
                      <a:r>
                        <a:rPr sz="1800" b="0">
                          <a:solidFill>
                            <a:srgbClr val="233D39"/>
                          </a:solidFill>
                          <a:latin typeface="Arial"/>
                          <a:ea typeface="Arial"/>
                          <a:cs typeface="Arial"/>
                        </a:rPr>
                        <a:t>18:00 session</a:t>
                      </a:r>
                    </a:p>
                  </a:txBody>
                  <a:tcPr marL="91440" marR="91440" marT="45720" marB="45720" anchor="ctr">
                    <a:solidFill>
                      <a:srgbClr val="E7EDE3"/>
                    </a:solidFill>
                  </a:tcPr>
                </a:tc>
                <a:tc>
                  <a:txBody>
                    <a:bodyPr lIns="171450" tIns="161925" rIns="133350" bIns="114300">
                      <a:noAutofit/>
                    </a:bodyPr>
                    <a:lstStyle/>
                    <a:p>
                      <a:r>
                        <a:rPr sz="1800" b="0">
                          <a:solidFill>
                            <a:srgbClr val="233D39"/>
                          </a:solidFill>
                          <a:latin typeface="Arial"/>
                          <a:ea typeface="Arial"/>
                          <a:cs typeface="Arial"/>
                        </a:rPr>
                        <a:t>0 min</a:t>
                      </a:r>
                    </a:p>
                  </a:txBody>
                  <a:tcPr marL="91440" marR="91440" marT="45720" marB="45720" anchor="ctr">
                    <a:solidFill>
                      <a:srgbClr val="E7EDE3"/>
                    </a:solidFill>
                  </a:tcPr>
                </a:tc>
              </a:tr>
              <a:tr h="690563">
                <a:tc>
                  <a:txBody>
                    <a:bodyPr lIns="171450" tIns="161925" rIns="133350" bIns="114300">
                      <a:noAutofit/>
                    </a:bodyPr>
                    <a:lstStyle/>
                    <a:p>
                      <a:r>
                        <a:rPr sz="1800" b="1">
                          <a:solidFill>
                            <a:srgbClr val="233D39"/>
                          </a:solidFill>
                          <a:latin typeface="Arial"/>
                          <a:ea typeface="Arial"/>
                          <a:cs typeface="Arial"/>
                        </a:rPr>
                        <a:t>More breathing room</a:t>
                      </a:r>
                    </a:p>
                  </a:txBody>
                  <a:tcPr marL="91440" marR="91440" marT="45720" marB="45720" anchor="ctr">
                    <a:solidFill>
                      <a:srgbClr val="F8F7F3"/>
                    </a:solidFill>
                  </a:tcPr>
                </a:tc>
                <a:tc>
                  <a:txBody>
                    <a:bodyPr lIns="171450" tIns="161925" rIns="133350" bIns="114300">
                      <a:noAutofit/>
                    </a:bodyPr>
                    <a:lstStyle/>
                    <a:p>
                      <a:r>
                        <a:rPr sz="1800" b="0">
                          <a:solidFill>
                            <a:srgbClr val="233D39"/>
                          </a:solidFill>
                          <a:latin typeface="Arial"/>
                          <a:ea typeface="Arial"/>
                          <a:cs typeface="Arial"/>
                        </a:rPr>
                        <a:t>₹1,800</a:t>
                      </a:r>
                    </a:p>
                  </a:txBody>
                  <a:tcPr marL="91440" marR="91440" marT="45720" marB="45720" anchor="ctr">
                    <a:solidFill>
                      <a:srgbClr val="F8F7F3"/>
                    </a:solidFill>
                  </a:tcPr>
                </a:tc>
                <a:tc>
                  <a:txBody>
                    <a:bodyPr lIns="171450" tIns="161925" rIns="133350" bIns="114300">
                      <a:noAutofit/>
                    </a:bodyPr>
                    <a:lstStyle/>
                    <a:p>
                      <a:r>
                        <a:rPr sz="1800" b="0">
                          <a:solidFill>
                            <a:srgbClr val="233D39"/>
                          </a:solidFill>
                          <a:latin typeface="Arial"/>
                          <a:ea typeface="Arial"/>
                          <a:cs typeface="Arial"/>
                        </a:rPr>
                        <a:t>18:00 session</a:t>
                      </a:r>
                    </a:p>
                  </a:txBody>
                  <a:tcPr marL="91440" marR="91440" marT="45720" marB="45720" anchor="ctr">
                    <a:solidFill>
                      <a:srgbClr val="F8F7F3"/>
                    </a:solidFill>
                  </a:tcPr>
                </a:tc>
                <a:tc>
                  <a:txBody>
                    <a:bodyPr lIns="171450" tIns="161925" rIns="133350" bIns="114300">
                      <a:noAutofit/>
                    </a:bodyPr>
                    <a:lstStyle/>
                    <a:p>
                      <a:r>
                        <a:rPr sz="1800" b="0">
                          <a:solidFill>
                            <a:srgbClr val="233D39"/>
                          </a:solidFill>
                          <a:latin typeface="Arial"/>
                          <a:ea typeface="Arial"/>
                          <a:cs typeface="Arial"/>
                        </a:rPr>
                        <a:t>45 min</a:t>
                      </a:r>
                    </a:p>
                  </a:txBody>
                  <a:tcPr marL="91440" marR="91440" marT="45720" marB="45720" anchor="ctr">
                    <a:solidFill>
                      <a:srgbClr val="F8F7F3"/>
                    </a:solidFill>
                  </a:tcPr>
                </a:tc>
              </a:tr>
              <a:tr h="690563">
                <a:tc>
                  <a:txBody>
                    <a:bodyPr lIns="171450" tIns="161925" rIns="133350" bIns="114300">
                      <a:noAutofit/>
                    </a:bodyPr>
                    <a:lstStyle/>
                    <a:p>
                      <a:r>
                        <a:rPr sz="1800" b="1">
                          <a:solidFill>
                            <a:srgbClr val="233D39"/>
                          </a:solidFill>
                          <a:latin typeface="Arial"/>
                          <a:ea typeface="Arial"/>
                          <a:cs typeface="Arial"/>
                        </a:rPr>
                        <a:t>Keep the original concert</a:t>
                      </a:r>
                    </a:p>
                  </a:txBody>
                  <a:tcPr marL="91440" marR="91440" marT="45720" marB="45720" anchor="ctr">
                    <a:solidFill>
                      <a:srgbClr val="E7EDE3"/>
                    </a:solidFill>
                  </a:tcPr>
                </a:tc>
                <a:tc>
                  <a:txBody>
                    <a:bodyPr lIns="171450" tIns="161925" rIns="133350" bIns="114300">
                      <a:noAutofit/>
                    </a:bodyPr>
                    <a:lstStyle/>
                    <a:p>
                      <a:r>
                        <a:rPr sz="1800" b="0">
                          <a:solidFill>
                            <a:srgbClr val="233D39"/>
                          </a:solidFill>
                          <a:latin typeface="Arial"/>
                          <a:ea typeface="Arial"/>
                          <a:cs typeface="Arial"/>
                        </a:rPr>
                        <a:t>₹2,300</a:t>
                      </a:r>
                    </a:p>
                  </a:txBody>
                  <a:tcPr marL="91440" marR="91440" marT="45720" marB="45720" anchor="ctr">
                    <a:solidFill>
                      <a:srgbClr val="E7EDE3"/>
                    </a:solidFill>
                  </a:tcPr>
                </a:tc>
                <a:tc>
                  <a:txBody>
                    <a:bodyPr lIns="171450" tIns="161925" rIns="133350" bIns="114300">
                      <a:noAutofit/>
                    </a:bodyPr>
                    <a:lstStyle/>
                    <a:p>
                      <a:r>
                        <a:rPr sz="1800" b="0">
                          <a:solidFill>
                            <a:srgbClr val="233D39"/>
                          </a:solidFill>
                          <a:latin typeface="Arial"/>
                          <a:ea typeface="Arial"/>
                          <a:cs typeface="Arial"/>
                        </a:rPr>
                        <a:t>16:00 session</a:t>
                      </a:r>
                    </a:p>
                  </a:txBody>
                  <a:tcPr marL="91440" marR="91440" marT="45720" marB="45720" anchor="ctr">
                    <a:solidFill>
                      <a:srgbClr val="E7EDE3"/>
                    </a:solidFill>
                  </a:tcPr>
                </a:tc>
                <a:tc>
                  <a:txBody>
                    <a:bodyPr lIns="171450" tIns="161925" rIns="133350" bIns="114300">
                      <a:noAutofit/>
                    </a:bodyPr>
                    <a:lstStyle/>
                    <a:p>
                      <a:r>
                        <a:rPr sz="1800" b="0">
                          <a:solidFill>
                            <a:srgbClr val="233D39"/>
                          </a:solidFill>
                          <a:latin typeface="Arial"/>
                          <a:ea typeface="Arial"/>
                          <a:cs typeface="Arial"/>
                        </a:rPr>
                        <a:t>0 min</a:t>
                      </a:r>
                    </a:p>
                  </a:txBody>
                  <a:tcPr marL="91440" marR="91440" marT="45720" marB="45720" anchor="ctr">
                    <a:solidFill>
                      <a:srgbClr val="E7EDE3"/>
                    </a:solidFill>
                  </a:tcPr>
                </a:tc>
              </a:tr>
            </a:tbl>
          </a:graphicData>
        </a:graphic>
      </p:graphicFrame>
      <p:sp>
        <p:nvSpPr>
          <p:cNvPr id="6" name="₹400 prepaid loss stays separate from new cas">
            <a:extLst xmlns:a="http://schemas.openxmlformats.org/drawingml/2006/main">
              <a:ext uri="{FF2B5EF4-FFF2-40B4-BE49-F238E27FC236}">
                <a16:creationId xmlns:a16="http://schemas.microsoft.com/office/drawing/2014/main" id="{563DC311-CB5B-4769-8AFE-61EC140CF508}"/>
              </a:ext>
            </a:extLst>
          </p:cNvPr>
          <p:cNvSpPr>
            <a:spLocks xmlns:a="http://schemas.openxmlformats.org/drawingml/2006/main" noGrp="1"/>
          </p:cNvSpPr>
          <p:nvPr/>
        </p:nvSpPr>
        <p:spPr>
          <a:xfrm xmlns:a="http://schemas.openxmlformats.org/drawingml/2006/main">
            <a:off x="609600" y="56959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61736B"/>
                </a:solidFill>
                <a:latin typeface="Arial"/>
                <a:ea typeface="Arial"/>
                <a:cs typeface="Arial"/>
              </a:defRPr>
            </a:pPr>
            <a:r>
              <a:rPr sz="1725" b="0">
                <a:solidFill>
                  <a:srgbClr val="61736B"/>
                </a:solidFill>
                <a:latin typeface="Arial"/>
                <a:ea typeface="Arial"/>
                <a:cs typeface="Arial"/>
              </a:rPr>
              <a:t>₹400 prepaid loss stays separate from new cash needed. Future refund: ₹0.</a:t>
            </a:r>
          </a:p>
        </p:txBody>
      </p:sp>
    </p:spTree>
    <p:extLst>
      <p:ext uri="{BB962C8B-B14F-4D97-AF65-F5344CB8AC3E}">
        <p14:creationId xmlns:p14="http://schemas.microsoft.com/office/powerpoint/2010/main" val="19205013"/>
      </p:ext>
    </p:extLst>
  </p:cSld>
</p:sld>
</file>

<file path=ppt/slides/slide6.xml><?xml version="1.0" encoding="utf-8"?>
<p:sld xmlns:p="http://schemas.openxmlformats.org/presentationml/2006/main">
  <p:cSld>
    <p:bg>
      <p:bgPr>
        <a:solidFill xmlns:a="http://schemas.openxmlformats.org/drawingml/2006/main">
          <a:srgbClr val="164D47"/>
        </a:solidFill>
      </p:bgPr>
    </p:bg>
    <p:spTree>
      <p:nvGrpSpPr>
        <p:cNvPr id="1" name=""/>
        <p:cNvGrpSpPr/>
        <p:nvPr/>
      </p:nvGrpSpPr>
      <p:grpSpPr>
        <a:xfrm xmlns:a="http://schemas.openxmlformats.org/drawingml/2006/main"/>
      </p:grpSpPr>
      <p:sp>
        <p:nvSpPr>
          <p:cNvPr id="11" name="The traveler’s priorities stay protected">
            <a:extLst xmlns:a="http://schemas.openxmlformats.org/drawingml/2006/main">
              <a:ext uri="{FF2B5EF4-FFF2-40B4-BE49-F238E27FC236}">
                <a16:creationId xmlns:a16="http://schemas.microsoft.com/office/drawing/2014/main" id="{7B80183D-E12A-488E-AB70-6E422017ADC3}"/>
              </a:ext>
            </a:extLst>
          </p:cNvPr>
          <p:cNvSpPr>
            <a:spLocks xmlns:a="http://schemas.openxmlformats.org/drawingml/2006/main" noGrp="1"/>
          </p:cNvSpPr>
          <p:nvPr/>
        </p:nvSpPr>
        <p:spPr>
          <a:xfrm xmlns:a="http://schemas.openxmlformats.org/drawingml/2006/main">
            <a:off x="609600" y="638175"/>
            <a:ext cx="10953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1">
                <a:solidFill>
                  <a:srgbClr val="F8F7F3"/>
                </a:solidFill>
                <a:latin typeface="Arial"/>
                <a:ea typeface="Arial"/>
                <a:cs typeface="Arial"/>
              </a:defRPr>
            </a:pPr>
            <a:r>
              <a:rPr sz="4050" b="1">
                <a:solidFill>
                  <a:srgbClr val="F8F7F3"/>
                </a:solidFill>
                <a:latin typeface="Arial"/>
                <a:ea typeface="Arial"/>
                <a:cs typeface="Arial"/>
              </a:rPr>
              <a:t>The traveler’s priorities stay protected</a:t>
            </a:r>
          </a:p>
        </p:txBody>
      </p:sp>
      <p:sp>
        <p:nvSpPr>
          <p:cNvPr id="2" name="RAAHI">
            <a:extLst xmlns:a="http://schemas.openxmlformats.org/drawingml/2006/main">
              <a:ext uri="{FF2B5EF4-FFF2-40B4-BE49-F238E27FC236}">
                <a16:creationId xmlns:a16="http://schemas.microsoft.com/office/drawing/2014/main" id="{98FFAFA6-9814-40BD-BE59-47119F7B26E9}"/>
              </a:ext>
            </a:extLst>
          </p:cNvPr>
          <p:cNvSpPr>
            <a:spLocks xmlns:a="http://schemas.openxmlformats.org/drawingml/2006/main" noGrp="1"/>
          </p:cNvSpPr>
          <p:nvPr/>
        </p:nvSpPr>
        <p:spPr>
          <a:xfrm xmlns:a="http://schemas.openxmlformats.org/drawingml/2006/main">
            <a:off x="609600" y="6334125"/>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050" b="1">
                <a:solidFill>
                  <a:srgbClr val="BDD0C5"/>
                </a:solidFill>
                <a:latin typeface="Arial"/>
                <a:ea typeface="Arial"/>
                <a:cs typeface="Arial"/>
              </a:defRPr>
            </a:pPr>
            <a:r>
              <a:rPr sz="1050" b="1">
                <a:solidFill>
                  <a:srgbClr val="BDD0C5"/>
                </a:solidFill>
                <a:latin typeface="Arial"/>
                <a:ea typeface="Arial"/>
                <a:cs typeface="Arial"/>
              </a:rPr>
              <a:t>RAAHI</a:t>
            </a:r>
          </a:p>
        </p:txBody>
      </p:sp>
      <p:sp>
        <p:nvSpPr>
          <p:cNvPr id="3" name="06">
            <a:extLst xmlns:a="http://schemas.openxmlformats.org/drawingml/2006/main">
              <a:ext uri="{FF2B5EF4-FFF2-40B4-BE49-F238E27FC236}">
                <a16:creationId xmlns:a16="http://schemas.microsoft.com/office/drawing/2014/main" id="{317A1040-EC5F-4080-92AE-06855A94E7B4}"/>
              </a:ext>
            </a:extLst>
          </p:cNvPr>
          <p:cNvSpPr>
            <a:spLocks xmlns:a="http://schemas.openxmlformats.org/drawingml/2006/main" noGrp="1"/>
          </p:cNvSpPr>
          <p:nvPr/>
        </p:nvSpPr>
        <p:spPr>
          <a:xfrm xmlns:a="http://schemas.openxmlformats.org/drawingml/2006/main">
            <a:off x="11049000" y="63341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050" b="0">
                <a:solidFill>
                  <a:srgbClr val="BDD0C5"/>
                </a:solidFill>
                <a:latin typeface="Arial"/>
                <a:ea typeface="Arial"/>
                <a:cs typeface="Arial"/>
              </a:defRPr>
            </a:pPr>
            <a:r>
              <a:rPr sz="1050" b="0">
                <a:solidFill>
                  <a:srgbClr val="BDD0C5"/>
                </a:solidFill>
                <a:latin typeface="Arial"/>
                <a:ea typeface="Arial"/>
                <a:cs typeface="Arial"/>
              </a:rPr>
              <a:t>06</a:t>
            </a:r>
          </a:p>
        </p:txBody>
      </p:sp>
      <p:sp>
        <p:nvSpPr>
          <p:cNvPr id="4" name="“I must make the 4 PM concert.”">
            <a:extLst xmlns:a="http://schemas.openxmlformats.org/drawingml/2006/main">
              <a:ext uri="{FF2B5EF4-FFF2-40B4-BE49-F238E27FC236}">
                <a16:creationId xmlns:a16="http://schemas.microsoft.com/office/drawing/2014/main" id="{039A37F3-555B-4B37-9531-BA1F520E145E}"/>
              </a:ext>
            </a:extLst>
          </p:cNvPr>
          <p:cNvSpPr>
            <a:spLocks xmlns:a="http://schemas.openxmlformats.org/drawingml/2006/main" noGrp="1"/>
          </p:cNvSpPr>
          <p:nvPr/>
        </p:nvSpPr>
        <p:spPr>
          <a:xfrm xmlns:a="http://schemas.openxmlformats.org/drawingml/2006/main">
            <a:off x="609600" y="1981200"/>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225" b="0" i="1">
                <a:solidFill>
                  <a:srgbClr val="E6B978"/>
                </a:solidFill>
                <a:latin typeface="Georgia"/>
                <a:ea typeface="Georgia"/>
                <a:cs typeface="Georgia"/>
              </a:defRPr>
            </a:pPr>
            <a:r>
              <a:rPr sz="3225" b="0" i="1">
                <a:solidFill>
                  <a:srgbClr val="E6B978"/>
                </a:solidFill>
                <a:latin typeface="Georgia"/>
                <a:ea typeface="Georgia"/>
                <a:cs typeface="Georgia"/>
              </a:rPr>
              <a:t>“I must make the 4 PM concert.”</a:t>
            </a:r>
          </a:p>
        </p:txBody>
      </p:sp>
      <p:sp>
        <p:nvSpPr>
          <p:cNvPr id="5" name="₹2,000">
            <a:extLst xmlns:a="http://schemas.openxmlformats.org/drawingml/2006/main">
              <a:ext uri="{FF2B5EF4-FFF2-40B4-BE49-F238E27FC236}">
                <a16:creationId xmlns:a16="http://schemas.microsoft.com/office/drawing/2014/main" id="{0E2A8E68-91B2-4191-B0DE-5952FA5D533F}"/>
              </a:ext>
            </a:extLst>
          </p:cNvPr>
          <p:cNvSpPr>
            <a:spLocks xmlns:a="http://schemas.openxmlformats.org/drawingml/2006/main" noGrp="1"/>
          </p:cNvSpPr>
          <p:nvPr/>
        </p:nvSpPr>
        <p:spPr>
          <a:xfrm xmlns:a="http://schemas.openxmlformats.org/drawingml/2006/main">
            <a:off x="609600" y="3209925"/>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175" b="1">
                <a:solidFill>
                  <a:srgbClr val="F8F7F3"/>
                </a:solidFill>
                <a:latin typeface="Arial"/>
                <a:ea typeface="Arial"/>
                <a:cs typeface="Arial"/>
              </a:defRPr>
            </a:pPr>
            <a:r>
              <a:rPr sz="5175" b="1">
                <a:solidFill>
                  <a:srgbClr val="F8F7F3"/>
                </a:solidFill>
                <a:latin typeface="Arial"/>
                <a:ea typeface="Arial"/>
                <a:cs typeface="Arial"/>
              </a:rPr>
              <a:t>₹2,000</a:t>
            </a:r>
          </a:p>
        </p:txBody>
      </p:sp>
      <p:sp>
        <p:nvSpPr>
          <p:cNvPr id="6" name="No feasible recovery">
            <a:extLst xmlns:a="http://schemas.openxmlformats.org/drawingml/2006/main">
              <a:ext uri="{FF2B5EF4-FFF2-40B4-BE49-F238E27FC236}">
                <a16:creationId xmlns:a16="http://schemas.microsoft.com/office/drawing/2014/main" id="{81C343F8-C731-4636-A999-5D417FA8A5CB}"/>
              </a:ext>
            </a:extLst>
          </p:cNvPr>
          <p:cNvSpPr>
            <a:spLocks xmlns:a="http://schemas.openxmlformats.org/drawingml/2006/main" noGrp="1"/>
          </p:cNvSpPr>
          <p:nvPr/>
        </p:nvSpPr>
        <p:spPr>
          <a:xfrm xmlns:a="http://schemas.openxmlformats.org/drawingml/2006/main">
            <a:off x="609600" y="42386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F8F7F3"/>
                </a:solidFill>
                <a:latin typeface="Arial"/>
                <a:ea typeface="Arial"/>
                <a:cs typeface="Arial"/>
              </a:defRPr>
            </a:pPr>
            <a:r>
              <a:rPr sz="2325" b="1">
                <a:solidFill>
                  <a:srgbClr val="F8F7F3"/>
                </a:solidFill>
                <a:latin typeface="Arial"/>
                <a:ea typeface="Arial"/>
                <a:cs typeface="Arial"/>
              </a:rPr>
              <a:t>No feasible recovery</a:t>
            </a:r>
          </a:p>
        </p:txBody>
      </p:sp>
      <p:sp>
        <p:nvSpPr>
          <p:cNvPr id="7" name="The engine preserves the hard limit&#10;and expla">
            <a:extLst xmlns:a="http://schemas.openxmlformats.org/drawingml/2006/main">
              <a:ext uri="{FF2B5EF4-FFF2-40B4-BE49-F238E27FC236}">
                <a16:creationId xmlns:a16="http://schemas.microsoft.com/office/drawing/2014/main" id="{E7C4373D-79F9-47D6-88B3-B444D7EC39F1}"/>
              </a:ext>
            </a:extLst>
          </p:cNvPr>
          <p:cNvSpPr>
            <a:spLocks xmlns:a="http://schemas.openxmlformats.org/drawingml/2006/main" noGrp="1"/>
          </p:cNvSpPr>
          <p:nvPr/>
        </p:nvSpPr>
        <p:spPr>
          <a:xfrm xmlns:a="http://schemas.openxmlformats.org/drawingml/2006/main">
            <a:off x="609600" y="4810125"/>
            <a:ext cx="4857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BDD0C5"/>
                </a:solidFill>
                <a:latin typeface="Arial"/>
                <a:ea typeface="Arial"/>
                <a:cs typeface="Arial"/>
              </a:defRPr>
            </a:pPr>
            <a:r>
              <a:rPr sz="1950" b="0">
                <a:solidFill>
                  <a:srgbClr val="BDD0C5"/>
                </a:solidFill>
                <a:latin typeface="Arial"/>
                <a:ea typeface="Arial"/>
                <a:cs typeface="Arial"/>
              </a:rPr>
              <a:t>The engine preserves the hard limit</a:t>
            </a:r>
          </a:p>
          <a:p xmlns:a="http://schemas.openxmlformats.org/drawingml/2006/main">
            <a:pPr>
              <a:defRPr sz="1950" b="0">
                <a:solidFill>
                  <a:srgbClr val="BDD0C5"/>
                </a:solidFill>
                <a:latin typeface="Arial"/>
                <a:ea typeface="Arial"/>
                <a:cs typeface="Arial"/>
              </a:defRPr>
            </a:pPr>
            <a:r>
              <a:rPr sz="1950" b="0">
                <a:solidFill>
                  <a:srgbClr val="BDD0C5"/>
                </a:solidFill>
                <a:latin typeface="Arial"/>
                <a:ea typeface="Arial"/>
                <a:cs typeface="Arial"/>
              </a:rPr>
              <a:t>and explains the conflict.</a:t>
            </a:r>
          </a:p>
        </p:txBody>
      </p:sp>
      <p:sp>
        <p:nvSpPr>
          <p:cNvPr id="8" name="₹2,500">
            <a:extLst xmlns:a="http://schemas.openxmlformats.org/drawingml/2006/main">
              <a:ext uri="{FF2B5EF4-FFF2-40B4-BE49-F238E27FC236}">
                <a16:creationId xmlns:a16="http://schemas.microsoft.com/office/drawing/2014/main" id="{204D155C-DE9C-4244-9CE8-B1DA39F1E55C}"/>
              </a:ext>
            </a:extLst>
          </p:cNvPr>
          <p:cNvSpPr>
            <a:spLocks xmlns:a="http://schemas.openxmlformats.org/drawingml/2006/main" noGrp="1"/>
          </p:cNvSpPr>
          <p:nvPr/>
        </p:nvSpPr>
        <p:spPr>
          <a:xfrm xmlns:a="http://schemas.openxmlformats.org/drawingml/2006/main">
            <a:off x="6610350" y="3209925"/>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5175" b="1">
                <a:solidFill>
                  <a:srgbClr val="F8F7F3"/>
                </a:solidFill>
                <a:latin typeface="Arial"/>
                <a:ea typeface="Arial"/>
                <a:cs typeface="Arial"/>
              </a:defRPr>
            </a:pPr>
            <a:r>
              <a:rPr sz="5175" b="1">
                <a:solidFill>
                  <a:srgbClr val="F8F7F3"/>
                </a:solidFill>
                <a:latin typeface="Arial"/>
                <a:ea typeface="Arial"/>
                <a:cs typeface="Arial"/>
              </a:rPr>
              <a:t>₹2,500</a:t>
            </a:r>
          </a:p>
        </p:txBody>
      </p:sp>
      <p:sp>
        <p:nvSpPr>
          <p:cNvPr id="9" name="Original concert protected">
            <a:extLst xmlns:a="http://schemas.openxmlformats.org/drawingml/2006/main">
              <a:ext uri="{FF2B5EF4-FFF2-40B4-BE49-F238E27FC236}">
                <a16:creationId xmlns:a16="http://schemas.microsoft.com/office/drawing/2014/main" id="{171B3DC6-6666-4166-83C7-99FC120732AA}"/>
              </a:ext>
            </a:extLst>
          </p:cNvPr>
          <p:cNvSpPr>
            <a:spLocks xmlns:a="http://schemas.openxmlformats.org/drawingml/2006/main" noGrp="1"/>
          </p:cNvSpPr>
          <p:nvPr/>
        </p:nvSpPr>
        <p:spPr>
          <a:xfrm xmlns:a="http://schemas.openxmlformats.org/drawingml/2006/main">
            <a:off x="6610350" y="42386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F8F7F3"/>
                </a:solidFill>
                <a:latin typeface="Arial"/>
                <a:ea typeface="Arial"/>
                <a:cs typeface="Arial"/>
              </a:defRPr>
            </a:pPr>
            <a:r>
              <a:rPr sz="2325" b="1">
                <a:solidFill>
                  <a:srgbClr val="F8F7F3"/>
                </a:solidFill>
                <a:latin typeface="Arial"/>
                <a:ea typeface="Arial"/>
                <a:cs typeface="Arial"/>
              </a:rPr>
              <a:t>Original concert protected</a:t>
            </a:r>
          </a:p>
        </p:txBody>
      </p:sp>
      <p:sp>
        <p:nvSpPr>
          <p:cNvPr id="10" name="A valid plan needs ₹2,300.&#10;The traveler can r">
            <a:extLst xmlns:a="http://schemas.openxmlformats.org/drawingml/2006/main">
              <a:ext uri="{FF2B5EF4-FFF2-40B4-BE49-F238E27FC236}">
                <a16:creationId xmlns:a16="http://schemas.microsoft.com/office/drawing/2014/main" id="{66549FC2-EEFC-4A46-8DD3-97122AE17B99}"/>
              </a:ext>
            </a:extLst>
          </p:cNvPr>
          <p:cNvSpPr>
            <a:spLocks xmlns:a="http://schemas.openxmlformats.org/drawingml/2006/main" noGrp="1"/>
          </p:cNvSpPr>
          <p:nvPr/>
        </p:nvSpPr>
        <p:spPr>
          <a:xfrm xmlns:a="http://schemas.openxmlformats.org/drawingml/2006/main">
            <a:off x="6610350" y="4810125"/>
            <a:ext cx="4857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BDD0C5"/>
                </a:solidFill>
                <a:latin typeface="Arial"/>
                <a:ea typeface="Arial"/>
                <a:cs typeface="Arial"/>
              </a:defRPr>
            </a:pPr>
            <a:r>
              <a:rPr sz="1950" b="0">
                <a:solidFill>
                  <a:srgbClr val="BDD0C5"/>
                </a:solidFill>
                <a:latin typeface="Arial"/>
                <a:ea typeface="Arial"/>
                <a:cs typeface="Arial"/>
              </a:rPr>
              <a:t>A valid plan needs ₹2,300.</a:t>
            </a:r>
          </a:p>
          <a:p xmlns:a="http://schemas.openxmlformats.org/drawingml/2006/main">
            <a:pPr>
              <a:defRPr sz="1950" b="0">
                <a:solidFill>
                  <a:srgbClr val="BDD0C5"/>
                </a:solidFill>
                <a:latin typeface="Arial"/>
                <a:ea typeface="Arial"/>
                <a:cs typeface="Arial"/>
              </a:defRPr>
            </a:pPr>
            <a:r>
              <a:rPr sz="1950" b="0">
                <a:solidFill>
                  <a:srgbClr val="BDD0C5"/>
                </a:solidFill>
                <a:latin typeface="Arial"/>
                <a:ea typeface="Arial"/>
                <a:cs typeface="Arial"/>
              </a:rPr>
              <a:t>The traveler can review it.</a:t>
            </a:r>
          </a:p>
        </p:txBody>
      </p:sp>
    </p:spTree>
    <p:extLst>
      <p:ext uri="{BB962C8B-B14F-4D97-AF65-F5344CB8AC3E}">
        <p14:creationId xmlns:p14="http://schemas.microsoft.com/office/powerpoint/2010/main" val="1518046346"/>
      </p:ext>
    </p:extLst>
  </p:cSld>
</p:sld>
</file>

<file path=ppt/slides/slide7.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9" name="A conversational copilot,&#10;with an engine behi">
            <a:extLst xmlns:a="http://schemas.openxmlformats.org/drawingml/2006/main">
              <a:ext uri="{FF2B5EF4-FFF2-40B4-BE49-F238E27FC236}">
                <a16:creationId xmlns:a16="http://schemas.microsoft.com/office/drawing/2014/main" id="{0EA7EAE5-F9FD-43B6-BD2A-8A6C693D89D3}"/>
              </a:ext>
            </a:extLst>
          </p:cNvPr>
          <p:cNvSpPr>
            <a:spLocks xmlns:a="http://schemas.openxmlformats.org/drawingml/2006/main" noGrp="1"/>
          </p:cNvSpPr>
          <p:nvPr/>
        </p:nvSpPr>
        <p:spPr>
          <a:xfrm xmlns:a="http://schemas.openxmlformats.org/drawingml/2006/main">
            <a:off x="609600" y="638175"/>
            <a:ext cx="10953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1">
                <a:solidFill>
                  <a:srgbClr val="233D39"/>
                </a:solidFill>
                <a:latin typeface="Arial"/>
                <a:ea typeface="Arial"/>
                <a:cs typeface="Arial"/>
              </a:defRPr>
            </a:pPr>
            <a:r>
              <a:rPr sz="4050" b="1">
                <a:solidFill>
                  <a:srgbClr val="233D39"/>
                </a:solidFill>
                <a:latin typeface="Arial"/>
                <a:ea typeface="Arial"/>
                <a:cs typeface="Arial"/>
              </a:rPr>
              <a:t>A conversational copilot,</a:t>
            </a:r>
          </a:p>
          <a:p xmlns:a="http://schemas.openxmlformats.org/drawingml/2006/main">
            <a:pPr>
              <a:defRPr sz="4050" b="1">
                <a:solidFill>
                  <a:srgbClr val="233D39"/>
                </a:solidFill>
                <a:latin typeface="Arial"/>
                <a:ea typeface="Arial"/>
                <a:cs typeface="Arial"/>
              </a:defRPr>
            </a:pPr>
            <a:r>
              <a:rPr sz="4050" b="1">
                <a:solidFill>
                  <a:srgbClr val="233D39"/>
                </a:solidFill>
                <a:latin typeface="Arial"/>
                <a:ea typeface="Arial"/>
                <a:cs typeface="Arial"/>
              </a:rPr>
              <a:t>with an engine behind it</a:t>
            </a:r>
          </a:p>
        </p:txBody>
      </p:sp>
      <p:sp>
        <p:nvSpPr>
          <p:cNvPr id="2" name="RAAHI">
            <a:extLst xmlns:a="http://schemas.openxmlformats.org/drawingml/2006/main">
              <a:ext uri="{FF2B5EF4-FFF2-40B4-BE49-F238E27FC236}">
                <a16:creationId xmlns:a16="http://schemas.microsoft.com/office/drawing/2014/main" id="{5FCACC21-F953-4C3D-BF98-60FAA628AF4F}"/>
              </a:ext>
            </a:extLst>
          </p:cNvPr>
          <p:cNvSpPr>
            <a:spLocks xmlns:a="http://schemas.openxmlformats.org/drawingml/2006/main" noGrp="1"/>
          </p:cNvSpPr>
          <p:nvPr/>
        </p:nvSpPr>
        <p:spPr>
          <a:xfrm xmlns:a="http://schemas.openxmlformats.org/drawingml/2006/main">
            <a:off x="609600" y="6334125"/>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050" b="1">
                <a:solidFill>
                  <a:srgbClr val="61736B"/>
                </a:solidFill>
                <a:latin typeface="Arial"/>
                <a:ea typeface="Arial"/>
                <a:cs typeface="Arial"/>
              </a:defRPr>
            </a:pPr>
            <a:r>
              <a:rPr sz="1050" b="1">
                <a:solidFill>
                  <a:srgbClr val="61736B"/>
                </a:solidFill>
                <a:latin typeface="Arial"/>
                <a:ea typeface="Arial"/>
                <a:cs typeface="Arial"/>
              </a:rPr>
              <a:t>RAAHI</a:t>
            </a:r>
          </a:p>
        </p:txBody>
      </p:sp>
      <p:sp>
        <p:nvSpPr>
          <p:cNvPr id="3" name="07">
            <a:extLst xmlns:a="http://schemas.openxmlformats.org/drawingml/2006/main">
              <a:ext uri="{FF2B5EF4-FFF2-40B4-BE49-F238E27FC236}">
                <a16:creationId xmlns:a16="http://schemas.microsoft.com/office/drawing/2014/main" id="{760DAE1C-249A-4BF3-B95D-070160FEFF0F}"/>
              </a:ext>
            </a:extLst>
          </p:cNvPr>
          <p:cNvSpPr>
            <a:spLocks xmlns:a="http://schemas.openxmlformats.org/drawingml/2006/main" noGrp="1"/>
          </p:cNvSpPr>
          <p:nvPr/>
        </p:nvSpPr>
        <p:spPr>
          <a:xfrm xmlns:a="http://schemas.openxmlformats.org/drawingml/2006/main">
            <a:off x="11049000" y="63341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050" b="0">
                <a:solidFill>
                  <a:srgbClr val="61736B"/>
                </a:solidFill>
                <a:latin typeface="Arial"/>
                <a:ea typeface="Arial"/>
                <a:cs typeface="Arial"/>
              </a:defRPr>
            </a:pPr>
            <a:r>
              <a:rPr sz="1050" b="0">
                <a:solidFill>
                  <a:srgbClr val="61736B"/>
                </a:solidFill>
                <a:latin typeface="Arial"/>
                <a:ea typeface="Arial"/>
                <a:cs typeface="Arial"/>
              </a:rPr>
              <a:t>07</a:t>
            </a:r>
          </a:p>
        </p:txBody>
      </p:sp>
      <p:sp>
        <p:nvSpPr>
          <p:cNvPr id="4" name="“Keep my 4 PM concert&#10;and stay under ₹2,500.”">
            <a:extLst xmlns:a="http://schemas.openxmlformats.org/drawingml/2006/main">
              <a:ext uri="{FF2B5EF4-FFF2-40B4-BE49-F238E27FC236}">
                <a16:creationId xmlns:a16="http://schemas.microsoft.com/office/drawing/2014/main" id="{C315133A-3381-4183-AAB4-AECC5B3E7F97}"/>
              </a:ext>
            </a:extLst>
          </p:cNvPr>
          <p:cNvSpPr>
            <a:spLocks xmlns:a="http://schemas.openxmlformats.org/drawingml/2006/main" noGrp="1"/>
          </p:cNvSpPr>
          <p:nvPr/>
        </p:nvSpPr>
        <p:spPr>
          <a:xfrm xmlns:a="http://schemas.openxmlformats.org/drawingml/2006/main">
            <a:off x="609600" y="2238375"/>
            <a:ext cx="70866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925" b="0" i="1">
                <a:solidFill>
                  <a:srgbClr val="164D47"/>
                </a:solidFill>
                <a:latin typeface="Georgia"/>
                <a:ea typeface="Georgia"/>
                <a:cs typeface="Georgia"/>
              </a:defRPr>
            </a:pPr>
            <a:r>
              <a:rPr sz="2925" b="0" i="1">
                <a:solidFill>
                  <a:srgbClr val="164D47"/>
                </a:solidFill>
                <a:latin typeface="Georgia"/>
                <a:ea typeface="Georgia"/>
                <a:cs typeface="Georgia"/>
              </a:rPr>
              <a:t>“Keep my 4 PM concert</a:t>
            </a:r>
          </a:p>
          <a:p xmlns:a="http://schemas.openxmlformats.org/drawingml/2006/main">
            <a:pPr>
              <a:defRPr sz="2925" b="0" i="1">
                <a:solidFill>
                  <a:srgbClr val="164D47"/>
                </a:solidFill>
                <a:latin typeface="Georgia"/>
                <a:ea typeface="Georgia"/>
                <a:cs typeface="Georgia"/>
              </a:defRPr>
            </a:pPr>
            <a:r>
              <a:rPr sz="2925" b="0" i="1">
                <a:solidFill>
                  <a:srgbClr val="164D47"/>
                </a:solidFill>
                <a:latin typeface="Georgia"/>
                <a:ea typeface="Georgia"/>
                <a:cs typeface="Georgia"/>
              </a:rPr>
              <a:t>and stay under ₹2,500.”</a:t>
            </a:r>
          </a:p>
        </p:txBody>
      </p:sp>
      <p:sp>
        <p:nvSpPr>
          <p:cNvPr id="5" name="The demo maps this request to an explicit&#10;bud">
            <a:extLst xmlns:a="http://schemas.openxmlformats.org/drawingml/2006/main">
              <a:ext uri="{FF2B5EF4-FFF2-40B4-BE49-F238E27FC236}">
                <a16:creationId xmlns:a16="http://schemas.microsoft.com/office/drawing/2014/main" id="{A60AC245-4E35-48B6-837D-F5DC1C08D25C}"/>
              </a:ext>
            </a:extLst>
          </p:cNvPr>
          <p:cNvSpPr>
            <a:spLocks xmlns:a="http://schemas.openxmlformats.org/drawingml/2006/main" noGrp="1"/>
          </p:cNvSpPr>
          <p:nvPr/>
        </p:nvSpPr>
        <p:spPr>
          <a:xfrm xmlns:a="http://schemas.openxmlformats.org/drawingml/2006/main">
            <a:off x="609600" y="3695700"/>
            <a:ext cx="681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233D39"/>
                </a:solidFill>
                <a:latin typeface="Arial"/>
                <a:ea typeface="Arial"/>
                <a:cs typeface="Arial"/>
              </a:defRPr>
            </a:pPr>
            <a:r>
              <a:rPr sz="2100" b="0">
                <a:solidFill>
                  <a:srgbClr val="233D39"/>
                </a:solidFill>
                <a:latin typeface="Arial"/>
                <a:ea typeface="Arial"/>
                <a:cs typeface="Arial"/>
              </a:rPr>
              <a:t>The demo maps this request to an explicit</a:t>
            </a:r>
          </a:p>
          <a:p xmlns:a="http://schemas.openxmlformats.org/drawingml/2006/main">
            <a:pPr>
              <a:defRPr sz="2100" b="0">
                <a:solidFill>
                  <a:srgbClr val="233D39"/>
                </a:solidFill>
                <a:latin typeface="Arial"/>
                <a:ea typeface="Arial"/>
                <a:cs typeface="Arial"/>
              </a:defRPr>
            </a:pPr>
            <a:r>
              <a:rPr sz="2100" b="0">
                <a:solidFill>
                  <a:srgbClr val="233D39"/>
                </a:solidFill>
                <a:latin typeface="Arial"/>
                <a:ea typeface="Arial"/>
                <a:cs typeface="Arial"/>
              </a:rPr>
              <a:t>budget and protected event.</a:t>
            </a:r>
          </a:p>
        </p:txBody>
      </p:sp>
      <p:sp>
        <p:nvSpPr>
          <p:cNvPr id="6" name="The engine validates the options.&#10;The travele">
            <a:extLst xmlns:a="http://schemas.openxmlformats.org/drawingml/2006/main">
              <a:ext uri="{FF2B5EF4-FFF2-40B4-BE49-F238E27FC236}">
                <a16:creationId xmlns:a16="http://schemas.microsoft.com/office/drawing/2014/main" id="{1D54737D-35B1-48A9-B73E-8A99745AD8EF}"/>
              </a:ext>
            </a:extLst>
          </p:cNvPr>
          <p:cNvSpPr>
            <a:spLocks xmlns:a="http://schemas.openxmlformats.org/drawingml/2006/main" noGrp="1"/>
          </p:cNvSpPr>
          <p:nvPr/>
        </p:nvSpPr>
        <p:spPr>
          <a:xfrm xmlns:a="http://schemas.openxmlformats.org/drawingml/2006/main">
            <a:off x="609600" y="4714875"/>
            <a:ext cx="6810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233D39"/>
                </a:solidFill>
                <a:latin typeface="Arial"/>
                <a:ea typeface="Arial"/>
                <a:cs typeface="Arial"/>
              </a:defRPr>
            </a:pPr>
            <a:r>
              <a:rPr sz="2100" b="0">
                <a:solidFill>
                  <a:srgbClr val="233D39"/>
                </a:solidFill>
                <a:latin typeface="Arial"/>
                <a:ea typeface="Arial"/>
                <a:cs typeface="Arial"/>
              </a:rPr>
              <a:t>The engine validates the options.</a:t>
            </a:r>
          </a:p>
          <a:p xmlns:a="http://schemas.openxmlformats.org/drawingml/2006/main">
            <a:pPr>
              <a:defRPr sz="2100" b="0">
                <a:solidFill>
                  <a:srgbClr val="233D39"/>
                </a:solidFill>
                <a:latin typeface="Arial"/>
                <a:ea typeface="Arial"/>
                <a:cs typeface="Arial"/>
              </a:defRPr>
            </a:pPr>
            <a:r>
              <a:rPr sz="2100" b="0">
                <a:solidFill>
                  <a:srgbClr val="233D39"/>
                </a:solidFill>
                <a:latin typeface="Arial"/>
                <a:ea typeface="Arial"/>
                <a:cs typeface="Arial"/>
              </a:rPr>
              <a:t>The traveler confirms the preferences.</a:t>
            </a:r>
          </a:p>
        </p:txBody>
      </p:sp>
      <p:sp>
        <p:nvSpPr>
          <p:cNvPr id="7" name="AI interpretation is simulated. Feasibility c">
            <a:extLst xmlns:a="http://schemas.openxmlformats.org/drawingml/2006/main">
              <a:ext uri="{FF2B5EF4-FFF2-40B4-BE49-F238E27FC236}">
                <a16:creationId xmlns:a16="http://schemas.microsoft.com/office/drawing/2014/main" id="{8DBDD59A-7027-4B1A-B474-56B17FE1FDC3}"/>
              </a:ext>
            </a:extLst>
          </p:cNvPr>
          <p:cNvSpPr>
            <a:spLocks xmlns:a="http://schemas.openxmlformats.org/drawingml/2006/main" noGrp="1"/>
          </p:cNvSpPr>
          <p:nvPr/>
        </p:nvSpPr>
        <p:spPr>
          <a:xfrm xmlns:a="http://schemas.openxmlformats.org/drawingml/2006/main">
            <a:off x="609600" y="5810250"/>
            <a:ext cx="7096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61736B"/>
                </a:solidFill>
                <a:latin typeface="Arial"/>
                <a:ea typeface="Arial"/>
                <a:cs typeface="Arial"/>
              </a:defRPr>
            </a:pPr>
            <a:r>
              <a:rPr sz="1500" b="0">
                <a:solidFill>
                  <a:srgbClr val="61736B"/>
                </a:solidFill>
                <a:latin typeface="Arial"/>
                <a:ea typeface="Arial"/>
                <a:cs typeface="Arial"/>
              </a:rPr>
              <a:t>AI interpretation is simulated. Feasibility calculations are real.</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f09f2ad91dd4608"/>
          <a:stretch xmlns:a="http://schemas.openxmlformats.org/drawingml/2006/main"/>
        </p:blipFill>
        <p:spPr>
          <a:xfrm xmlns:a="http://schemas.openxmlformats.org/drawingml/2006/main">
            <a:off x="8344543" y="514350"/>
            <a:ext cx="2627613" cy="5686425"/>
          </a:xfrm>
          <a:prstGeom xmlns:a="http://schemas.openxmlformats.org/drawingml/2006/main" prst="rect">
            <a:avLst/>
          </a:prstGeom>
        </p:spPr>
      </p:pic>
    </p:spTree>
    <p:extLst>
      <p:ext uri="{BB962C8B-B14F-4D97-AF65-F5344CB8AC3E}">
        <p14:creationId xmlns:p14="http://schemas.microsoft.com/office/powerpoint/2010/main" val="1413569053"/>
      </p:ext>
    </p:extLst>
  </p:cSld>
</p:sld>
</file>

<file path=ppt/slides/slide8.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7" name="A clear boundary between advice and action">
            <a:extLst xmlns:a="http://schemas.openxmlformats.org/drawingml/2006/main">
              <a:ext uri="{FF2B5EF4-FFF2-40B4-BE49-F238E27FC236}">
                <a16:creationId xmlns:a16="http://schemas.microsoft.com/office/drawing/2014/main" id="{5DBF9CA3-D501-4177-A737-4A4029A87A47}"/>
              </a:ext>
            </a:extLst>
          </p:cNvPr>
          <p:cNvSpPr>
            <a:spLocks xmlns:a="http://schemas.openxmlformats.org/drawingml/2006/main" noGrp="1"/>
          </p:cNvSpPr>
          <p:nvPr/>
        </p:nvSpPr>
        <p:spPr>
          <a:xfrm xmlns:a="http://schemas.openxmlformats.org/drawingml/2006/main">
            <a:off x="609600" y="638175"/>
            <a:ext cx="10953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1">
                <a:solidFill>
                  <a:srgbClr val="233D39"/>
                </a:solidFill>
                <a:latin typeface="Arial"/>
                <a:ea typeface="Arial"/>
                <a:cs typeface="Arial"/>
              </a:defRPr>
            </a:pPr>
            <a:r>
              <a:rPr sz="4050" b="1">
                <a:solidFill>
                  <a:srgbClr val="233D39"/>
                </a:solidFill>
                <a:latin typeface="Arial"/>
                <a:ea typeface="Arial"/>
                <a:cs typeface="Arial"/>
              </a:rPr>
              <a:t>A clear boundary between advice and action</a:t>
            </a:r>
          </a:p>
        </p:txBody>
      </p:sp>
      <p:sp>
        <p:nvSpPr>
          <p:cNvPr id="2" name="RAAHI">
            <a:extLst xmlns:a="http://schemas.openxmlformats.org/drawingml/2006/main">
              <a:ext uri="{FF2B5EF4-FFF2-40B4-BE49-F238E27FC236}">
                <a16:creationId xmlns:a16="http://schemas.microsoft.com/office/drawing/2014/main" id="{C1F548A5-8A78-47B9-927A-DAB22634F127}"/>
              </a:ext>
            </a:extLst>
          </p:cNvPr>
          <p:cNvSpPr>
            <a:spLocks xmlns:a="http://schemas.openxmlformats.org/drawingml/2006/main" noGrp="1"/>
          </p:cNvSpPr>
          <p:nvPr/>
        </p:nvSpPr>
        <p:spPr>
          <a:xfrm xmlns:a="http://schemas.openxmlformats.org/drawingml/2006/main">
            <a:off x="609600" y="6334125"/>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050" b="1">
                <a:solidFill>
                  <a:srgbClr val="61736B"/>
                </a:solidFill>
                <a:latin typeface="Arial"/>
                <a:ea typeface="Arial"/>
                <a:cs typeface="Arial"/>
              </a:defRPr>
            </a:pPr>
            <a:r>
              <a:rPr sz="1050" b="1">
                <a:solidFill>
                  <a:srgbClr val="61736B"/>
                </a:solidFill>
                <a:latin typeface="Arial"/>
                <a:ea typeface="Arial"/>
                <a:cs typeface="Arial"/>
              </a:rPr>
              <a:t>RAAHI</a:t>
            </a:r>
          </a:p>
        </p:txBody>
      </p:sp>
      <p:sp>
        <p:nvSpPr>
          <p:cNvPr id="3" name="08">
            <a:extLst xmlns:a="http://schemas.openxmlformats.org/drawingml/2006/main">
              <a:ext uri="{FF2B5EF4-FFF2-40B4-BE49-F238E27FC236}">
                <a16:creationId xmlns:a16="http://schemas.microsoft.com/office/drawing/2014/main" id="{0BC8A8DD-63AF-4868-A5E3-73B05FABC764}"/>
              </a:ext>
            </a:extLst>
          </p:cNvPr>
          <p:cNvSpPr>
            <a:spLocks xmlns:a="http://schemas.openxmlformats.org/drawingml/2006/main" noGrp="1"/>
          </p:cNvSpPr>
          <p:nvPr/>
        </p:nvSpPr>
        <p:spPr>
          <a:xfrm xmlns:a="http://schemas.openxmlformats.org/drawingml/2006/main">
            <a:off x="11049000" y="63341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050" b="0">
                <a:solidFill>
                  <a:srgbClr val="61736B"/>
                </a:solidFill>
                <a:latin typeface="Arial"/>
                <a:ea typeface="Arial"/>
                <a:cs typeface="Arial"/>
              </a:defRPr>
            </a:pPr>
            <a:r>
              <a:rPr sz="1050" b="0">
                <a:solidFill>
                  <a:srgbClr val="61736B"/>
                </a:solidFill>
                <a:latin typeface="Arial"/>
                <a:ea typeface="Arial"/>
                <a:cs typeface="Arial"/>
              </a:rPr>
              <a:t>08</a:t>
            </a:r>
          </a:p>
        </p:txBody>
      </p:sp>
      <p:sp>
        <p:nvSpPr>
          <p:cNvPr id="4" name="01">
            <a:extLst xmlns:a="http://schemas.openxmlformats.org/drawingml/2006/main">
              <a:ext uri="{FF2B5EF4-FFF2-40B4-BE49-F238E27FC236}">
                <a16:creationId xmlns:a16="http://schemas.microsoft.com/office/drawing/2014/main" id="{77ABAD2F-F8B3-474D-B1A2-4CAE6DA09C20}"/>
              </a:ext>
            </a:extLst>
          </p:cNvPr>
          <p:cNvSpPr>
            <a:spLocks xmlns:a="http://schemas.openxmlformats.org/drawingml/2006/main" noGrp="1"/>
          </p:cNvSpPr>
          <p:nvPr/>
        </p:nvSpPr>
        <p:spPr>
          <a:xfrm xmlns:a="http://schemas.openxmlformats.org/drawingml/2006/main">
            <a:off x="609600" y="2209800"/>
            <a:ext cx="609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AD5D37"/>
                </a:solidFill>
                <a:latin typeface="Georgia"/>
                <a:ea typeface="Georgia"/>
                <a:cs typeface="Georgia"/>
              </a:defRPr>
            </a:pPr>
            <a:r>
              <a:rPr sz="2325" b="0">
                <a:solidFill>
                  <a:srgbClr val="AD5D37"/>
                </a:solidFill>
                <a:latin typeface="Georgia"/>
                <a:ea typeface="Georgia"/>
                <a:cs typeface="Georgia"/>
              </a:rPr>
              <a:t>01</a:t>
            </a:r>
          </a:p>
        </p:txBody>
      </p:sp>
      <p:sp>
        <p:nvSpPr>
          <p:cNvPr id="5" name="Interpret">
            <a:extLst xmlns:a="http://schemas.openxmlformats.org/drawingml/2006/main">
              <a:ext uri="{FF2B5EF4-FFF2-40B4-BE49-F238E27FC236}">
                <a16:creationId xmlns:a16="http://schemas.microsoft.com/office/drawing/2014/main" id="{5E63D253-8ECA-4545-9D9C-F7D35A4B7320}"/>
              </a:ext>
            </a:extLst>
          </p:cNvPr>
          <p:cNvSpPr>
            <a:spLocks xmlns:a="http://schemas.openxmlformats.org/drawingml/2006/main" noGrp="1"/>
          </p:cNvSpPr>
          <p:nvPr/>
        </p:nvSpPr>
        <p:spPr>
          <a:xfrm xmlns:a="http://schemas.openxmlformats.org/drawingml/2006/main">
            <a:off x="1457325" y="2209800"/>
            <a:ext cx="20669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164D47"/>
                </a:solidFill>
                <a:latin typeface="Arial"/>
                <a:ea typeface="Arial"/>
                <a:cs typeface="Arial"/>
              </a:defRPr>
            </a:pPr>
            <a:r>
              <a:rPr sz="2325" b="1">
                <a:solidFill>
                  <a:srgbClr val="164D47"/>
                </a:solidFill>
                <a:latin typeface="Arial"/>
                <a:ea typeface="Arial"/>
                <a:cs typeface="Arial"/>
              </a:rPr>
              <a:t>Interpret</a:t>
            </a:r>
          </a:p>
        </p:txBody>
      </p:sp>
      <p:sp>
        <p:nvSpPr>
          <p:cNvPr id="6" name="Authored demo requests map to structured pref">
            <a:extLst xmlns:a="http://schemas.openxmlformats.org/drawingml/2006/main">
              <a:ext uri="{FF2B5EF4-FFF2-40B4-BE49-F238E27FC236}">
                <a16:creationId xmlns:a16="http://schemas.microsoft.com/office/drawing/2014/main" id="{DF837190-8B14-4FA8-B605-BDB3D8837B49}"/>
              </a:ext>
            </a:extLst>
          </p:cNvPr>
          <p:cNvSpPr>
            <a:spLocks xmlns:a="http://schemas.openxmlformats.org/drawingml/2006/main" noGrp="1"/>
          </p:cNvSpPr>
          <p:nvPr/>
        </p:nvSpPr>
        <p:spPr>
          <a:xfrm xmlns:a="http://schemas.openxmlformats.org/drawingml/2006/main">
            <a:off x="3886200" y="2209800"/>
            <a:ext cx="76009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233D39"/>
                </a:solidFill>
                <a:latin typeface="Arial"/>
                <a:ea typeface="Arial"/>
                <a:cs typeface="Arial"/>
              </a:defRPr>
            </a:pPr>
            <a:r>
              <a:rPr sz="1950" b="0">
                <a:solidFill>
                  <a:srgbClr val="233D39"/>
                </a:solidFill>
                <a:latin typeface="Arial"/>
                <a:ea typeface="Arial"/>
                <a:cs typeface="Arial"/>
              </a:rPr>
              <a:t>Authored demo requests map to structured preferences.</a:t>
            </a:r>
          </a:p>
        </p:txBody>
      </p:sp>
      <p:sp>
        <p:nvSpPr>
          <p:cNvPr id="7" name="02">
            <a:extLst xmlns:a="http://schemas.openxmlformats.org/drawingml/2006/main">
              <a:ext uri="{FF2B5EF4-FFF2-40B4-BE49-F238E27FC236}">
                <a16:creationId xmlns:a16="http://schemas.microsoft.com/office/drawing/2014/main" id="{443166CA-CC0F-42EB-BBDA-1B5ADD169D11}"/>
              </a:ext>
            </a:extLst>
          </p:cNvPr>
          <p:cNvSpPr>
            <a:spLocks xmlns:a="http://schemas.openxmlformats.org/drawingml/2006/main" noGrp="1"/>
          </p:cNvSpPr>
          <p:nvPr/>
        </p:nvSpPr>
        <p:spPr>
          <a:xfrm xmlns:a="http://schemas.openxmlformats.org/drawingml/2006/main">
            <a:off x="609600" y="3105150"/>
            <a:ext cx="609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AD5D37"/>
                </a:solidFill>
                <a:latin typeface="Georgia"/>
                <a:ea typeface="Georgia"/>
                <a:cs typeface="Georgia"/>
              </a:defRPr>
            </a:pPr>
            <a:r>
              <a:rPr sz="2325" b="0">
                <a:solidFill>
                  <a:srgbClr val="AD5D37"/>
                </a:solidFill>
                <a:latin typeface="Georgia"/>
                <a:ea typeface="Georgia"/>
                <a:cs typeface="Georgia"/>
              </a:rPr>
              <a:t>02</a:t>
            </a:r>
          </a:p>
        </p:txBody>
      </p:sp>
      <p:sp>
        <p:nvSpPr>
          <p:cNvPr id="8" name="Validate">
            <a:extLst xmlns:a="http://schemas.openxmlformats.org/drawingml/2006/main">
              <a:ext uri="{FF2B5EF4-FFF2-40B4-BE49-F238E27FC236}">
                <a16:creationId xmlns:a16="http://schemas.microsoft.com/office/drawing/2014/main" id="{32423E21-D15B-464F-AC0A-3B0CEDFEA6CA}"/>
              </a:ext>
            </a:extLst>
          </p:cNvPr>
          <p:cNvSpPr>
            <a:spLocks xmlns:a="http://schemas.openxmlformats.org/drawingml/2006/main" noGrp="1"/>
          </p:cNvSpPr>
          <p:nvPr/>
        </p:nvSpPr>
        <p:spPr>
          <a:xfrm xmlns:a="http://schemas.openxmlformats.org/drawingml/2006/main">
            <a:off x="1457325" y="3105150"/>
            <a:ext cx="20669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164D47"/>
                </a:solidFill>
                <a:latin typeface="Arial"/>
                <a:ea typeface="Arial"/>
                <a:cs typeface="Arial"/>
              </a:defRPr>
            </a:pPr>
            <a:r>
              <a:rPr sz="2325" b="1">
                <a:solidFill>
                  <a:srgbClr val="164D47"/>
                </a:solidFill>
                <a:latin typeface="Arial"/>
                <a:ea typeface="Arial"/>
                <a:cs typeface="Arial"/>
              </a:rPr>
              <a:t>Validate</a:t>
            </a:r>
          </a:p>
        </p:txBody>
      </p:sp>
      <p:sp>
        <p:nvSpPr>
          <p:cNvPr id="9" name="Pure TypeScript checks time, location, cash a">
            <a:extLst xmlns:a="http://schemas.openxmlformats.org/drawingml/2006/main">
              <a:ext uri="{FF2B5EF4-FFF2-40B4-BE49-F238E27FC236}">
                <a16:creationId xmlns:a16="http://schemas.microsoft.com/office/drawing/2014/main" id="{8087AB47-5071-4BE4-AADE-9F4C5AB4DB82}"/>
              </a:ext>
            </a:extLst>
          </p:cNvPr>
          <p:cNvSpPr>
            <a:spLocks xmlns:a="http://schemas.openxmlformats.org/drawingml/2006/main" noGrp="1"/>
          </p:cNvSpPr>
          <p:nvPr/>
        </p:nvSpPr>
        <p:spPr>
          <a:xfrm xmlns:a="http://schemas.openxmlformats.org/drawingml/2006/main">
            <a:off x="3886200" y="3105150"/>
            <a:ext cx="76009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233D39"/>
                </a:solidFill>
                <a:latin typeface="Arial"/>
                <a:ea typeface="Arial"/>
                <a:cs typeface="Arial"/>
              </a:defRPr>
            </a:pPr>
            <a:r>
              <a:rPr sz="1950" b="0">
                <a:solidFill>
                  <a:srgbClr val="233D39"/>
                </a:solidFill>
                <a:latin typeface="Arial"/>
                <a:ea typeface="Arial"/>
                <a:cs typeface="Arial"/>
              </a:rPr>
              <a:t>Pure TypeScript checks time, location, cash and availability.</a:t>
            </a:r>
          </a:p>
        </p:txBody>
      </p:sp>
      <p:sp>
        <p:nvSpPr>
          <p:cNvPr id="10" name="03">
            <a:extLst xmlns:a="http://schemas.openxmlformats.org/drawingml/2006/main">
              <a:ext uri="{FF2B5EF4-FFF2-40B4-BE49-F238E27FC236}">
                <a16:creationId xmlns:a16="http://schemas.microsoft.com/office/drawing/2014/main" id="{083E20FE-6677-481B-9D60-5B49A2AA27A1}"/>
              </a:ext>
            </a:extLst>
          </p:cNvPr>
          <p:cNvSpPr>
            <a:spLocks xmlns:a="http://schemas.openxmlformats.org/drawingml/2006/main" noGrp="1"/>
          </p:cNvSpPr>
          <p:nvPr/>
        </p:nvSpPr>
        <p:spPr>
          <a:xfrm xmlns:a="http://schemas.openxmlformats.org/drawingml/2006/main">
            <a:off x="609600" y="4000500"/>
            <a:ext cx="609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AD5D37"/>
                </a:solidFill>
                <a:latin typeface="Georgia"/>
                <a:ea typeface="Georgia"/>
                <a:cs typeface="Georgia"/>
              </a:defRPr>
            </a:pPr>
            <a:r>
              <a:rPr sz="2325" b="0">
                <a:solidFill>
                  <a:srgbClr val="AD5D37"/>
                </a:solidFill>
                <a:latin typeface="Georgia"/>
                <a:ea typeface="Georgia"/>
                <a:cs typeface="Georgia"/>
              </a:rPr>
              <a:t>03</a:t>
            </a:r>
          </a:p>
        </p:txBody>
      </p:sp>
      <p:sp>
        <p:nvSpPr>
          <p:cNvPr id="11" name="Review">
            <a:extLst xmlns:a="http://schemas.openxmlformats.org/drawingml/2006/main">
              <a:ext uri="{FF2B5EF4-FFF2-40B4-BE49-F238E27FC236}">
                <a16:creationId xmlns:a16="http://schemas.microsoft.com/office/drawing/2014/main" id="{9D6D4F4A-A7B3-4165-89B6-A745610219B2}"/>
              </a:ext>
            </a:extLst>
          </p:cNvPr>
          <p:cNvSpPr>
            <a:spLocks xmlns:a="http://schemas.openxmlformats.org/drawingml/2006/main" noGrp="1"/>
          </p:cNvSpPr>
          <p:nvPr/>
        </p:nvSpPr>
        <p:spPr>
          <a:xfrm xmlns:a="http://schemas.openxmlformats.org/drawingml/2006/main">
            <a:off x="1457325" y="4000500"/>
            <a:ext cx="20669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164D47"/>
                </a:solidFill>
                <a:latin typeface="Arial"/>
                <a:ea typeface="Arial"/>
                <a:cs typeface="Arial"/>
              </a:defRPr>
            </a:pPr>
            <a:r>
              <a:rPr sz="2325" b="1">
                <a:solidFill>
                  <a:srgbClr val="164D47"/>
                </a:solidFill>
                <a:latin typeface="Arial"/>
                <a:ea typeface="Arial"/>
                <a:cs typeface="Arial"/>
              </a:rPr>
              <a:t>Review</a:t>
            </a:r>
          </a:p>
        </p:txBody>
      </p:sp>
      <p:sp>
        <p:nvSpPr>
          <p:cNvPr id="12" name="The API regenerates the plan and checks its s">
            <a:extLst xmlns:a="http://schemas.openxmlformats.org/drawingml/2006/main">
              <a:ext uri="{FF2B5EF4-FFF2-40B4-BE49-F238E27FC236}">
                <a16:creationId xmlns:a16="http://schemas.microsoft.com/office/drawing/2014/main" id="{102CEB8C-50C2-4B9E-AB11-F84CA9B03306}"/>
              </a:ext>
            </a:extLst>
          </p:cNvPr>
          <p:cNvSpPr>
            <a:spLocks xmlns:a="http://schemas.openxmlformats.org/drawingml/2006/main" noGrp="1"/>
          </p:cNvSpPr>
          <p:nvPr/>
        </p:nvSpPr>
        <p:spPr>
          <a:xfrm xmlns:a="http://schemas.openxmlformats.org/drawingml/2006/main">
            <a:off x="3886200" y="4000500"/>
            <a:ext cx="76009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233D39"/>
                </a:solidFill>
                <a:latin typeface="Arial"/>
                <a:ea typeface="Arial"/>
                <a:cs typeface="Arial"/>
              </a:defRPr>
            </a:pPr>
            <a:r>
              <a:rPr sz="1950" b="0">
                <a:solidFill>
                  <a:srgbClr val="233D39"/>
                </a:solidFill>
                <a:latin typeface="Arial"/>
                <a:ea typeface="Arial"/>
                <a:cs typeface="Arial"/>
              </a:rPr>
              <a:t>The API regenerates the plan and checks its signed review.</a:t>
            </a:r>
          </a:p>
        </p:txBody>
      </p:sp>
      <p:sp>
        <p:nvSpPr>
          <p:cNvPr id="13" name="04">
            <a:extLst xmlns:a="http://schemas.openxmlformats.org/drawingml/2006/main">
              <a:ext uri="{FF2B5EF4-FFF2-40B4-BE49-F238E27FC236}">
                <a16:creationId xmlns:a16="http://schemas.microsoft.com/office/drawing/2014/main" id="{1CE44382-BF1B-4A96-8D89-6AE9213E280A}"/>
              </a:ext>
            </a:extLst>
          </p:cNvPr>
          <p:cNvSpPr>
            <a:spLocks xmlns:a="http://schemas.openxmlformats.org/drawingml/2006/main" noGrp="1"/>
          </p:cNvSpPr>
          <p:nvPr/>
        </p:nvSpPr>
        <p:spPr>
          <a:xfrm xmlns:a="http://schemas.openxmlformats.org/drawingml/2006/main">
            <a:off x="609600" y="4895850"/>
            <a:ext cx="609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AD5D37"/>
                </a:solidFill>
                <a:latin typeface="Georgia"/>
                <a:ea typeface="Georgia"/>
                <a:cs typeface="Georgia"/>
              </a:defRPr>
            </a:pPr>
            <a:r>
              <a:rPr sz="2325" b="0">
                <a:solidFill>
                  <a:srgbClr val="AD5D37"/>
                </a:solidFill>
                <a:latin typeface="Georgia"/>
                <a:ea typeface="Georgia"/>
                <a:cs typeface="Georgia"/>
              </a:rPr>
              <a:t>04</a:t>
            </a:r>
          </a:p>
        </p:txBody>
      </p:sp>
      <p:sp>
        <p:nvSpPr>
          <p:cNvPr id="14" name="Apply">
            <a:extLst xmlns:a="http://schemas.openxmlformats.org/drawingml/2006/main">
              <a:ext uri="{FF2B5EF4-FFF2-40B4-BE49-F238E27FC236}">
                <a16:creationId xmlns:a16="http://schemas.microsoft.com/office/drawing/2014/main" id="{57120089-7FCF-481F-8E47-7445770F4C13}"/>
              </a:ext>
            </a:extLst>
          </p:cNvPr>
          <p:cNvSpPr>
            <a:spLocks xmlns:a="http://schemas.openxmlformats.org/drawingml/2006/main" noGrp="1"/>
          </p:cNvSpPr>
          <p:nvPr/>
        </p:nvSpPr>
        <p:spPr>
          <a:xfrm xmlns:a="http://schemas.openxmlformats.org/drawingml/2006/main">
            <a:off x="1457325" y="4895850"/>
            <a:ext cx="20669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164D47"/>
                </a:solidFill>
                <a:latin typeface="Arial"/>
                <a:ea typeface="Arial"/>
                <a:cs typeface="Arial"/>
              </a:defRPr>
            </a:pPr>
            <a:r>
              <a:rPr sz="2325" b="1">
                <a:solidFill>
                  <a:srgbClr val="164D47"/>
                </a:solidFill>
                <a:latin typeface="Arial"/>
                <a:ea typeface="Arial"/>
                <a:cs typeface="Arial"/>
              </a:rPr>
              <a:t>Apply</a:t>
            </a:r>
          </a:p>
        </p:txBody>
      </p:sp>
      <p:sp>
        <p:nvSpPr>
          <p:cNvPr id="15" name="Confirmation saves the itinerary. Supplier ac">
            <a:extLst xmlns:a="http://schemas.openxmlformats.org/drawingml/2006/main">
              <a:ext uri="{FF2B5EF4-FFF2-40B4-BE49-F238E27FC236}">
                <a16:creationId xmlns:a16="http://schemas.microsoft.com/office/drawing/2014/main" id="{C54092DD-D21D-47AE-A36A-BAD54F7669D1}"/>
              </a:ext>
            </a:extLst>
          </p:cNvPr>
          <p:cNvSpPr>
            <a:spLocks xmlns:a="http://schemas.openxmlformats.org/drawingml/2006/main" noGrp="1"/>
          </p:cNvSpPr>
          <p:nvPr/>
        </p:nvSpPr>
        <p:spPr>
          <a:xfrm xmlns:a="http://schemas.openxmlformats.org/drawingml/2006/main">
            <a:off x="3886200" y="4895850"/>
            <a:ext cx="76009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233D39"/>
                </a:solidFill>
                <a:latin typeface="Arial"/>
                <a:ea typeface="Arial"/>
                <a:cs typeface="Arial"/>
              </a:defRPr>
            </a:pPr>
            <a:r>
              <a:rPr sz="1950" b="0">
                <a:solidFill>
                  <a:srgbClr val="233D39"/>
                </a:solidFill>
                <a:latin typeface="Arial"/>
                <a:ea typeface="Arial"/>
                <a:cs typeface="Arial"/>
              </a:rPr>
              <a:t>Confirmation saves the itinerary. Supplier actions stay simulated.</a:t>
            </a:r>
          </a:p>
        </p:txBody>
      </p:sp>
      <p:sp>
        <p:nvSpPr>
          <p:cNvPr id="16" name="Next.js + React UI     Zod command validation">
            <a:extLst xmlns:a="http://schemas.openxmlformats.org/drawingml/2006/main">
              <a:ext uri="{FF2B5EF4-FFF2-40B4-BE49-F238E27FC236}">
                <a16:creationId xmlns:a16="http://schemas.microsoft.com/office/drawing/2014/main" id="{F06693A4-3E1D-49EB-A0D9-5D2ACB29B3DA}"/>
              </a:ext>
            </a:extLst>
          </p:cNvPr>
          <p:cNvSpPr>
            <a:spLocks xmlns:a="http://schemas.openxmlformats.org/drawingml/2006/main" noGrp="1"/>
          </p:cNvSpPr>
          <p:nvPr/>
        </p:nvSpPr>
        <p:spPr>
          <a:xfrm xmlns:a="http://schemas.openxmlformats.org/drawingml/2006/main">
            <a:off x="609600" y="6000750"/>
            <a:ext cx="10839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500" b="0">
                <a:solidFill>
                  <a:srgbClr val="61736B"/>
                </a:solidFill>
                <a:latin typeface="Arial"/>
                <a:ea typeface="Arial"/>
                <a:cs typeface="Arial"/>
              </a:defRPr>
            </a:pPr>
            <a:r>
              <a:rPr sz="1500" b="0">
                <a:solidFill>
                  <a:srgbClr val="61736B"/>
                </a:solidFill>
                <a:latin typeface="Arial"/>
                <a:ea typeface="Arial"/>
                <a:cs typeface="Arial"/>
              </a:rPr>
              <a:t>Next.js + React UI     Zod command validation     Independent recovery engine</a:t>
            </a:r>
          </a:p>
        </p:txBody>
      </p:sp>
    </p:spTree>
    <p:extLst>
      <p:ext uri="{BB962C8B-B14F-4D97-AF65-F5344CB8AC3E}">
        <p14:creationId xmlns:p14="http://schemas.microsoft.com/office/powerpoint/2010/main" val="1913997047"/>
      </p:ext>
    </p:extLst>
  </p:cSld>
</p:sld>
</file>

<file path=ppt/slides/slide9.xml><?xml version="1.0" encoding="utf-8"?>
<p:sld xmlns:p="http://schemas.openxmlformats.org/presentationml/2006/main">
  <p:cSld>
    <p:bg>
      <p:bgPr>
        <a:solidFill xmlns:a="http://schemas.openxmlformats.org/drawingml/2006/main">
          <a:srgbClr val="F8F7F3"/>
        </a:solidFill>
      </p:bgPr>
    </p:bg>
    <p:spTree>
      <p:nvGrpSpPr>
        <p:cNvPr id="1" name=""/>
        <p:cNvGrpSpPr/>
        <p:nvPr/>
      </p:nvGrpSpPr>
      <p:grpSpPr>
        <a:xfrm xmlns:a="http://schemas.openxmlformats.org/drawingml/2006/main"/>
      </p:grpSpPr>
      <p:sp>
        <p:nvSpPr>
          <p:cNvPr id="12" name="Ready for the prototype round">
            <a:extLst xmlns:a="http://schemas.openxmlformats.org/drawingml/2006/main">
              <a:ext uri="{FF2B5EF4-FFF2-40B4-BE49-F238E27FC236}">
                <a16:creationId xmlns:a16="http://schemas.microsoft.com/office/drawing/2014/main" id="{DE082CDF-9447-4E75-8E65-B640EBCE4E81}"/>
              </a:ext>
            </a:extLst>
          </p:cNvPr>
          <p:cNvSpPr>
            <a:spLocks xmlns:a="http://schemas.openxmlformats.org/drawingml/2006/main" noGrp="1"/>
          </p:cNvSpPr>
          <p:nvPr/>
        </p:nvSpPr>
        <p:spPr>
          <a:xfrm xmlns:a="http://schemas.openxmlformats.org/drawingml/2006/main">
            <a:off x="609600" y="638175"/>
            <a:ext cx="10953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050" b="1">
                <a:solidFill>
                  <a:srgbClr val="233D39"/>
                </a:solidFill>
                <a:latin typeface="Arial"/>
                <a:ea typeface="Arial"/>
                <a:cs typeface="Arial"/>
              </a:defRPr>
            </a:pPr>
            <a:r>
              <a:rPr sz="4050" b="1">
                <a:solidFill>
                  <a:srgbClr val="233D39"/>
                </a:solidFill>
                <a:latin typeface="Arial"/>
                <a:ea typeface="Arial"/>
                <a:cs typeface="Arial"/>
              </a:rPr>
              <a:t>Ready for the prototype round</a:t>
            </a:r>
          </a:p>
        </p:txBody>
      </p:sp>
      <p:sp>
        <p:nvSpPr>
          <p:cNvPr id="2" name="RAAHI">
            <a:extLst xmlns:a="http://schemas.openxmlformats.org/drawingml/2006/main">
              <a:ext uri="{FF2B5EF4-FFF2-40B4-BE49-F238E27FC236}">
                <a16:creationId xmlns:a16="http://schemas.microsoft.com/office/drawing/2014/main" id="{3E7E5241-09EC-4995-9BD5-4C38089E3DD1}"/>
              </a:ext>
            </a:extLst>
          </p:cNvPr>
          <p:cNvSpPr>
            <a:spLocks xmlns:a="http://schemas.openxmlformats.org/drawingml/2006/main" noGrp="1"/>
          </p:cNvSpPr>
          <p:nvPr/>
        </p:nvSpPr>
        <p:spPr>
          <a:xfrm xmlns:a="http://schemas.openxmlformats.org/drawingml/2006/main">
            <a:off x="609600" y="6334125"/>
            <a:ext cx="285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050" b="1">
                <a:solidFill>
                  <a:srgbClr val="61736B"/>
                </a:solidFill>
                <a:latin typeface="Arial"/>
                <a:ea typeface="Arial"/>
                <a:cs typeface="Arial"/>
              </a:defRPr>
            </a:pPr>
            <a:r>
              <a:rPr sz="1050" b="1">
                <a:solidFill>
                  <a:srgbClr val="61736B"/>
                </a:solidFill>
                <a:latin typeface="Arial"/>
                <a:ea typeface="Arial"/>
                <a:cs typeface="Arial"/>
              </a:rPr>
              <a:t>RAAHI</a:t>
            </a:r>
          </a:p>
        </p:txBody>
      </p:sp>
      <p:sp>
        <p:nvSpPr>
          <p:cNvPr id="3" name="09">
            <a:extLst xmlns:a="http://schemas.openxmlformats.org/drawingml/2006/main">
              <a:ext uri="{FF2B5EF4-FFF2-40B4-BE49-F238E27FC236}">
                <a16:creationId xmlns:a16="http://schemas.microsoft.com/office/drawing/2014/main" id="{A47164EC-8467-4E53-A69D-3DEAE975F1CB}"/>
              </a:ext>
            </a:extLst>
          </p:cNvPr>
          <p:cNvSpPr>
            <a:spLocks xmlns:a="http://schemas.openxmlformats.org/drawingml/2006/main" noGrp="1"/>
          </p:cNvSpPr>
          <p:nvPr/>
        </p:nvSpPr>
        <p:spPr>
          <a:xfrm xmlns:a="http://schemas.openxmlformats.org/drawingml/2006/main">
            <a:off x="11049000" y="6334125"/>
            <a:ext cx="533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r">
              <a:defRPr sz="1050" b="0">
                <a:solidFill>
                  <a:srgbClr val="61736B"/>
                </a:solidFill>
                <a:latin typeface="Arial"/>
                <a:ea typeface="Arial"/>
                <a:cs typeface="Arial"/>
              </a:defRPr>
            </a:pPr>
            <a:r>
              <a:rPr sz="1050" b="0">
                <a:solidFill>
                  <a:srgbClr val="61736B"/>
                </a:solidFill>
                <a:latin typeface="Arial"/>
                <a:ea typeface="Arial"/>
                <a:cs typeface="Arial"/>
              </a:rPr>
              <a:t>09</a:t>
            </a:r>
          </a:p>
        </p:txBody>
      </p:sp>
      <p:sp>
        <p:nvSpPr>
          <p:cNvPr id="4" name="3">
            <a:extLst xmlns:a="http://schemas.openxmlformats.org/drawingml/2006/main">
              <a:ext uri="{FF2B5EF4-FFF2-40B4-BE49-F238E27FC236}">
                <a16:creationId xmlns:a16="http://schemas.microsoft.com/office/drawing/2014/main" id="{4AA22F14-0C51-4199-B95D-CACF39F837B3}"/>
              </a:ext>
            </a:extLst>
          </p:cNvPr>
          <p:cNvSpPr>
            <a:spLocks xmlns:a="http://schemas.openxmlformats.org/drawingml/2006/main" noGrp="1"/>
          </p:cNvSpPr>
          <p:nvPr/>
        </p:nvSpPr>
        <p:spPr>
          <a:xfrm xmlns:a="http://schemas.openxmlformats.org/drawingml/2006/main">
            <a:off x="609600" y="2047875"/>
            <a:ext cx="3238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9375" b="1">
                <a:solidFill>
                  <a:srgbClr val="164D47"/>
                </a:solidFill>
                <a:latin typeface="Arial"/>
                <a:ea typeface="Arial"/>
                <a:cs typeface="Arial"/>
              </a:defRPr>
            </a:pPr>
            <a:r>
              <a:rPr sz="9375" b="1">
                <a:solidFill>
                  <a:srgbClr val="164D47"/>
                </a:solidFill>
                <a:latin typeface="Arial"/>
                <a:ea typeface="Arial"/>
                <a:cs typeface="Arial"/>
              </a:rPr>
              <a:t>3</a:t>
            </a:r>
          </a:p>
        </p:txBody>
      </p:sp>
      <p:sp>
        <p:nvSpPr>
          <p:cNvPr id="5" name="disruption scenarios">
            <a:extLst xmlns:a="http://schemas.openxmlformats.org/drawingml/2006/main">
              <a:ext uri="{FF2B5EF4-FFF2-40B4-BE49-F238E27FC236}">
                <a16:creationId xmlns:a16="http://schemas.microsoft.com/office/drawing/2014/main" id="{2089DB78-F438-40A7-B1A1-2B0CC7180D60}"/>
              </a:ext>
            </a:extLst>
          </p:cNvPr>
          <p:cNvSpPr>
            <a:spLocks xmlns:a="http://schemas.openxmlformats.org/drawingml/2006/main" noGrp="1"/>
          </p:cNvSpPr>
          <p:nvPr/>
        </p:nvSpPr>
        <p:spPr>
          <a:xfrm xmlns:a="http://schemas.openxmlformats.org/drawingml/2006/main">
            <a:off x="647700" y="3590925"/>
            <a:ext cx="34480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233D39"/>
                </a:solidFill>
                <a:latin typeface="Arial"/>
                <a:ea typeface="Arial"/>
                <a:cs typeface="Arial"/>
              </a:defRPr>
            </a:pPr>
            <a:r>
              <a:rPr sz="2100" b="1">
                <a:solidFill>
                  <a:srgbClr val="233D39"/>
                </a:solidFill>
                <a:latin typeface="Arial"/>
                <a:ea typeface="Arial"/>
                <a:cs typeface="Arial"/>
              </a:rPr>
              <a:t>disruption scenarios</a:t>
            </a:r>
          </a:p>
        </p:txBody>
      </p:sp>
      <p:sp>
        <p:nvSpPr>
          <p:cNvPr id="6" name="Flight delay&#10;Concert cancellation&#10;Combined di">
            <a:extLst xmlns:a="http://schemas.openxmlformats.org/drawingml/2006/main">
              <a:ext uri="{FF2B5EF4-FFF2-40B4-BE49-F238E27FC236}">
                <a16:creationId xmlns:a16="http://schemas.microsoft.com/office/drawing/2014/main" id="{CAB7410B-E502-46B3-A492-B8448691574C}"/>
              </a:ext>
            </a:extLst>
          </p:cNvPr>
          <p:cNvSpPr>
            <a:spLocks xmlns:a="http://schemas.openxmlformats.org/drawingml/2006/main" noGrp="1"/>
          </p:cNvSpPr>
          <p:nvPr/>
        </p:nvSpPr>
        <p:spPr>
          <a:xfrm xmlns:a="http://schemas.openxmlformats.org/drawingml/2006/main">
            <a:off x="647700" y="4448175"/>
            <a:ext cx="3581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61736B"/>
                </a:solidFill>
                <a:latin typeface="Arial"/>
                <a:ea typeface="Arial"/>
                <a:cs typeface="Arial"/>
              </a:defRPr>
            </a:pPr>
            <a:r>
              <a:rPr sz="1800" b="0">
                <a:solidFill>
                  <a:srgbClr val="61736B"/>
                </a:solidFill>
                <a:latin typeface="Arial"/>
                <a:ea typeface="Arial"/>
                <a:cs typeface="Arial"/>
              </a:rPr>
              <a:t>Flight delay</a:t>
            </a:r>
          </a:p>
          <a:p xmlns:a="http://schemas.openxmlformats.org/drawingml/2006/main">
            <a:pPr>
              <a:defRPr sz="1800" b="0">
                <a:solidFill>
                  <a:srgbClr val="61736B"/>
                </a:solidFill>
                <a:latin typeface="Arial"/>
                <a:ea typeface="Arial"/>
                <a:cs typeface="Arial"/>
              </a:defRPr>
            </a:pPr>
            <a:r>
              <a:rPr sz="1800" b="0">
                <a:solidFill>
                  <a:srgbClr val="61736B"/>
                </a:solidFill>
                <a:latin typeface="Arial"/>
                <a:ea typeface="Arial"/>
                <a:cs typeface="Arial"/>
              </a:rPr>
              <a:t>Concert cancellation</a:t>
            </a:r>
          </a:p>
          <a:p xmlns:a="http://schemas.openxmlformats.org/drawingml/2006/main">
            <a:pPr>
              <a:defRPr sz="1800" b="0">
                <a:solidFill>
                  <a:srgbClr val="61736B"/>
                </a:solidFill>
                <a:latin typeface="Arial"/>
                <a:ea typeface="Arial"/>
                <a:cs typeface="Arial"/>
              </a:defRPr>
            </a:pPr>
            <a:r>
              <a:rPr sz="1800" b="0">
                <a:solidFill>
                  <a:srgbClr val="61736B"/>
                </a:solidFill>
                <a:latin typeface="Arial"/>
                <a:ea typeface="Arial"/>
                <a:cs typeface="Arial"/>
              </a:rPr>
              <a:t>Combined disruption</a:t>
            </a:r>
          </a:p>
        </p:txBody>
      </p:sp>
      <p:sp>
        <p:nvSpPr>
          <p:cNvPr id="7" name="COMPLETE RECOVERY LOOP">
            <a:extLst xmlns:a="http://schemas.openxmlformats.org/drawingml/2006/main">
              <a:ext uri="{FF2B5EF4-FFF2-40B4-BE49-F238E27FC236}">
                <a16:creationId xmlns:a16="http://schemas.microsoft.com/office/drawing/2014/main" id="{69B39778-CCB4-4724-8033-14DC274C59C9}"/>
              </a:ext>
            </a:extLst>
          </p:cNvPr>
          <p:cNvSpPr>
            <a:spLocks xmlns:a="http://schemas.openxmlformats.org/drawingml/2006/main" noGrp="1"/>
          </p:cNvSpPr>
          <p:nvPr/>
        </p:nvSpPr>
        <p:spPr>
          <a:xfrm xmlns:a="http://schemas.openxmlformats.org/drawingml/2006/main">
            <a:off x="5143500" y="227647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164D47"/>
                </a:solidFill>
                <a:latin typeface="Arial"/>
                <a:ea typeface="Arial"/>
                <a:cs typeface="Arial"/>
              </a:defRPr>
            </a:pPr>
            <a:r>
              <a:rPr sz="1650" b="1">
                <a:solidFill>
                  <a:srgbClr val="164D47"/>
                </a:solidFill>
                <a:latin typeface="Arial"/>
                <a:ea typeface="Arial"/>
                <a:cs typeface="Arial"/>
              </a:rPr>
              <a:t>COMPLETE RECOVERY LOOP</a:t>
            </a:r>
          </a:p>
        </p:txBody>
      </p:sp>
      <p:sp>
        <p:nvSpPr>
          <p:cNvPr id="8" name="Dependency impacts and risk warnings&#10;Recovery">
            <a:extLst xmlns:a="http://schemas.openxmlformats.org/drawingml/2006/main">
              <a:ext uri="{FF2B5EF4-FFF2-40B4-BE49-F238E27FC236}">
                <a16:creationId xmlns:a16="http://schemas.microsoft.com/office/drawing/2014/main" id="{DC8F778C-B2EB-4B4D-BE29-0938FCC534B4}"/>
              </a:ext>
            </a:extLst>
          </p:cNvPr>
          <p:cNvSpPr>
            <a:spLocks xmlns:a="http://schemas.openxmlformats.org/drawingml/2006/main" noGrp="1"/>
          </p:cNvSpPr>
          <p:nvPr/>
        </p:nvSpPr>
        <p:spPr>
          <a:xfrm xmlns:a="http://schemas.openxmlformats.org/drawingml/2006/main">
            <a:off x="5143500" y="2895600"/>
            <a:ext cx="63436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0">
                <a:solidFill>
                  <a:srgbClr val="233D39"/>
                </a:solidFill>
                <a:latin typeface="Arial"/>
                <a:ea typeface="Arial"/>
                <a:cs typeface="Arial"/>
              </a:defRPr>
            </a:pPr>
            <a:r>
              <a:rPr sz="2025" b="0">
                <a:solidFill>
                  <a:srgbClr val="233D39"/>
                </a:solidFill>
                <a:latin typeface="Arial"/>
                <a:ea typeface="Arial"/>
                <a:cs typeface="Arial"/>
              </a:rPr>
              <a:t>Dependency impacts and risk warnings</a:t>
            </a:r>
          </a:p>
          <a:p xmlns:a="http://schemas.openxmlformats.org/drawingml/2006/main">
            <a:pPr>
              <a:defRPr sz="2025" b="0">
                <a:solidFill>
                  <a:srgbClr val="233D39"/>
                </a:solidFill>
                <a:latin typeface="Arial"/>
                <a:ea typeface="Arial"/>
                <a:cs typeface="Arial"/>
              </a:defRPr>
            </a:pPr>
            <a:r>
              <a:rPr sz="2025" b="0">
                <a:solidFill>
                  <a:srgbClr val="233D39"/>
                </a:solidFill>
                <a:latin typeface="Arial"/>
                <a:ea typeface="Arial"/>
                <a:cs typeface="Arial"/>
              </a:rPr>
              <a:t>Recovery comparison and cost review</a:t>
            </a:r>
          </a:p>
          <a:p xmlns:a="http://schemas.openxmlformats.org/drawingml/2006/main">
            <a:pPr>
              <a:defRPr sz="2025" b="0">
                <a:solidFill>
                  <a:srgbClr val="233D39"/>
                </a:solidFill>
                <a:latin typeface="Arial"/>
                <a:ea typeface="Arial"/>
                <a:cs typeface="Arial"/>
              </a:defRPr>
            </a:pPr>
            <a:r>
              <a:rPr sz="2025" b="0">
                <a:solidFill>
                  <a:srgbClr val="233D39"/>
                </a:solidFill>
                <a:latin typeface="Arial"/>
                <a:ea typeface="Arial"/>
                <a:cs typeface="Arial"/>
              </a:rPr>
              <a:t>Saved itinerary after confirmation</a:t>
            </a:r>
          </a:p>
        </p:txBody>
      </p:sp>
      <p:sp>
        <p:nvSpPr>
          <p:cNvPr id="9" name="NEXT INTEGRATIONS">
            <a:extLst xmlns:a="http://schemas.openxmlformats.org/drawingml/2006/main">
              <a:ext uri="{FF2B5EF4-FFF2-40B4-BE49-F238E27FC236}">
                <a16:creationId xmlns:a16="http://schemas.microsoft.com/office/drawing/2014/main" id="{6C751B9C-F6DA-44BA-9753-97001EA7BCFF}"/>
              </a:ext>
            </a:extLst>
          </p:cNvPr>
          <p:cNvSpPr>
            <a:spLocks xmlns:a="http://schemas.openxmlformats.org/drawingml/2006/main" noGrp="1"/>
          </p:cNvSpPr>
          <p:nvPr/>
        </p:nvSpPr>
        <p:spPr>
          <a:xfrm xmlns:a="http://schemas.openxmlformats.org/drawingml/2006/main">
            <a:off x="5143500" y="46005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650" b="1">
                <a:solidFill>
                  <a:srgbClr val="AD5D37"/>
                </a:solidFill>
                <a:latin typeface="Arial"/>
                <a:ea typeface="Arial"/>
                <a:cs typeface="Arial"/>
              </a:defRPr>
            </a:pPr>
            <a:r>
              <a:rPr sz="1650" b="1">
                <a:solidFill>
                  <a:srgbClr val="AD5D37"/>
                </a:solidFill>
                <a:latin typeface="Arial"/>
                <a:ea typeface="Arial"/>
                <a:cs typeface="Arial"/>
              </a:rPr>
              <a:t>NEXT INTEGRATIONS</a:t>
            </a:r>
          </a:p>
        </p:txBody>
      </p:sp>
      <p:sp>
        <p:nvSpPr>
          <p:cNvPr id="10" name="Live inventory and policy evidence&#10;Model inte">
            <a:extLst xmlns:a="http://schemas.openxmlformats.org/drawingml/2006/main">
              <a:ext uri="{FF2B5EF4-FFF2-40B4-BE49-F238E27FC236}">
                <a16:creationId xmlns:a16="http://schemas.microsoft.com/office/drawing/2014/main" id="{3246AD90-7772-4801-AFD3-4A46B0F06686}"/>
              </a:ext>
            </a:extLst>
          </p:cNvPr>
          <p:cNvSpPr>
            <a:spLocks xmlns:a="http://schemas.openxmlformats.org/drawingml/2006/main" noGrp="1"/>
          </p:cNvSpPr>
          <p:nvPr/>
        </p:nvSpPr>
        <p:spPr>
          <a:xfrm xmlns:a="http://schemas.openxmlformats.org/drawingml/2006/main">
            <a:off x="5143500" y="5029200"/>
            <a:ext cx="6191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61736B"/>
                </a:solidFill>
                <a:latin typeface="Arial"/>
                <a:ea typeface="Arial"/>
                <a:cs typeface="Arial"/>
              </a:defRPr>
            </a:pPr>
            <a:r>
              <a:rPr sz="1950" b="0">
                <a:solidFill>
                  <a:srgbClr val="61736B"/>
                </a:solidFill>
                <a:latin typeface="Arial"/>
                <a:ea typeface="Arial"/>
                <a:cs typeface="Arial"/>
              </a:rPr>
              <a:t>Live inventory and policy evidence</a:t>
            </a:r>
          </a:p>
          <a:p xmlns:a="http://schemas.openxmlformats.org/drawingml/2006/main">
            <a:pPr>
              <a:defRPr sz="1950" b="0">
                <a:solidFill>
                  <a:srgbClr val="61736B"/>
                </a:solidFill>
                <a:latin typeface="Arial"/>
                <a:ea typeface="Arial"/>
                <a:cs typeface="Arial"/>
              </a:defRPr>
            </a:pPr>
            <a:r>
              <a:rPr sz="1950" b="0">
                <a:solidFill>
                  <a:srgbClr val="61736B"/>
                </a:solidFill>
                <a:latin typeface="Arial"/>
                <a:ea typeface="Arial"/>
                <a:cs typeface="Arial"/>
              </a:rPr>
              <a:t>Model interpretation and supplier execution</a:t>
            </a:r>
          </a:p>
        </p:txBody>
      </p:sp>
      <p:sp>
        <p:nvSpPr>
          <p:cNvPr id="11" name="13 tests passed. Production build and mobile ">
            <a:extLst xmlns:a="http://schemas.openxmlformats.org/drawingml/2006/main">
              <a:ext uri="{FF2B5EF4-FFF2-40B4-BE49-F238E27FC236}">
                <a16:creationId xmlns:a16="http://schemas.microsoft.com/office/drawing/2014/main" id="{3378CADE-D1FB-4CDD-ADDB-46E76E3AC59F}"/>
              </a:ext>
            </a:extLst>
          </p:cNvPr>
          <p:cNvSpPr>
            <a:spLocks xmlns:a="http://schemas.openxmlformats.org/drawingml/2006/main" noGrp="1"/>
          </p:cNvSpPr>
          <p:nvPr/>
        </p:nvSpPr>
        <p:spPr>
          <a:xfrm xmlns:a="http://schemas.openxmlformats.org/drawingml/2006/main">
            <a:off x="609600" y="60007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425" b="0">
                <a:solidFill>
                  <a:srgbClr val="61736B"/>
                </a:solidFill>
                <a:latin typeface="Arial"/>
                <a:ea typeface="Arial"/>
                <a:cs typeface="Arial"/>
              </a:defRPr>
            </a:pPr>
            <a:r>
              <a:rPr sz="1425" b="0">
                <a:solidFill>
                  <a:srgbClr val="61736B"/>
                </a:solidFill>
                <a:latin typeface="Arial"/>
                <a:ea typeface="Arial"/>
                <a:cs typeface="Arial"/>
              </a:rPr>
              <a:t>13 tests passed. Production build and mobile recovery flow verified.</a:t>
            </a:r>
          </a:p>
        </p:txBody>
      </p:sp>
    </p:spTree>
    <p:extLst>
      <p:ext uri="{BB962C8B-B14F-4D97-AF65-F5344CB8AC3E}">
        <p14:creationId xmlns:p14="http://schemas.microsoft.com/office/powerpoint/2010/main" val="1403278571"/>
      </p:ext>
    </p:extLst>
  </p:cSld>
</p:sld>
</file>

<file path=ppt/slides/slide10.xml><?xml version="1.0" encoding="utf-8"?>
<p:sld xmlns:p="http://schemas.openxmlformats.org/presentationml/2006/main">
  <p:cSld>
    <p:bg>
      <p:bgPr>
        <a:solidFill xmlns:a="http://schemas.openxmlformats.org/drawingml/2006/main">
          <a:srgbClr val="164D47"/>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14a534f55844163"/>
          <a:srcRect xmlns:a="http://schemas.openxmlformats.org/drawingml/2006/main" l="24861" t="0" r="24861" b="0"/>
          <a:stretch xmlns:a="http://schemas.openxmlformats.org/drawingml/2006/main">
            <a:fillRect l="0" t="0" r="0" b="0"/>
          </a:stretch>
        </p:blipFill>
        <p:spPr>
          <a:xfrm xmlns:a="http://schemas.openxmlformats.org/drawingml/2006/main">
            <a:off x="7019925" y="0"/>
            <a:ext cx="5172075" cy="6858000"/>
          </a:xfrm>
          <a:prstGeom xmlns:a="http://schemas.openxmlformats.org/drawingml/2006/main" prst="rect">
            <a:avLst/>
          </a:prstGeom>
        </p:spPr>
      </p:pic>
      <p:sp>
        <p:nvSpPr>
          <p:cNvPr id="2" name="Raahi">
            <a:extLst xmlns:a="http://schemas.openxmlformats.org/drawingml/2006/main">
              <a:ext uri="{FF2B5EF4-FFF2-40B4-BE49-F238E27FC236}">
                <a16:creationId xmlns:a16="http://schemas.microsoft.com/office/drawing/2014/main" id="{2ACBF2D6-8934-421F-B599-32C5D3384FE9}"/>
              </a:ext>
            </a:extLst>
          </p:cNvPr>
          <p:cNvSpPr>
            <a:spLocks xmlns:a="http://schemas.openxmlformats.org/drawingml/2006/main" noGrp="1"/>
          </p:cNvSpPr>
          <p:nvPr/>
        </p:nvSpPr>
        <p:spPr>
          <a:xfrm xmlns:a="http://schemas.openxmlformats.org/drawingml/2006/main">
            <a:off x="609600" y="781050"/>
            <a:ext cx="5762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950" b="1">
                <a:solidFill>
                  <a:srgbClr val="F8F7F3"/>
                </a:solidFill>
                <a:latin typeface="Arial"/>
                <a:ea typeface="Arial"/>
                <a:cs typeface="Arial"/>
              </a:defRPr>
            </a:pPr>
            <a:r>
              <a:rPr sz="4950" b="1">
                <a:solidFill>
                  <a:srgbClr val="F8F7F3"/>
                </a:solidFill>
                <a:latin typeface="Arial"/>
                <a:ea typeface="Arial"/>
                <a:cs typeface="Arial"/>
              </a:rPr>
              <a:t>Raahi</a:t>
            </a:r>
          </a:p>
        </p:txBody>
      </p:sp>
      <p:sp>
        <p:nvSpPr>
          <p:cNvPr id="3" name="A way forward&#10;for the whole trip">
            <a:extLst xmlns:a="http://schemas.openxmlformats.org/drawingml/2006/main">
              <a:ext uri="{FF2B5EF4-FFF2-40B4-BE49-F238E27FC236}">
                <a16:creationId xmlns:a16="http://schemas.microsoft.com/office/drawing/2014/main" id="{CCBCBD52-ECE4-423F-831C-36EDDD417C19}"/>
              </a:ext>
            </a:extLst>
          </p:cNvPr>
          <p:cNvSpPr>
            <a:spLocks xmlns:a="http://schemas.openxmlformats.org/drawingml/2006/main" noGrp="1"/>
          </p:cNvSpPr>
          <p:nvPr/>
        </p:nvSpPr>
        <p:spPr>
          <a:xfrm xmlns:a="http://schemas.openxmlformats.org/drawingml/2006/main">
            <a:off x="609600" y="2200275"/>
            <a:ext cx="5972175" cy="1628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975" b="0" i="1">
                <a:solidFill>
                  <a:srgbClr val="E6B978"/>
                </a:solidFill>
                <a:latin typeface="Georgia"/>
                <a:ea typeface="Georgia"/>
                <a:cs typeface="Georgia"/>
              </a:defRPr>
            </a:pPr>
            <a:r>
              <a:rPr sz="3975" b="0" i="1">
                <a:solidFill>
                  <a:srgbClr val="E6B978"/>
                </a:solidFill>
                <a:latin typeface="Georgia"/>
                <a:ea typeface="Georgia"/>
                <a:cs typeface="Georgia"/>
              </a:rPr>
              <a:t>A way forward</a:t>
            </a:r>
          </a:p>
          <a:p xmlns:a="http://schemas.openxmlformats.org/drawingml/2006/main">
            <a:pPr>
              <a:defRPr sz="3975" b="0" i="1">
                <a:solidFill>
                  <a:srgbClr val="E6B978"/>
                </a:solidFill>
                <a:latin typeface="Georgia"/>
                <a:ea typeface="Georgia"/>
                <a:cs typeface="Georgia"/>
              </a:defRPr>
            </a:pPr>
            <a:r>
              <a:rPr sz="3975" b="0" i="1">
                <a:solidFill>
                  <a:srgbClr val="E6B978"/>
                </a:solidFill>
                <a:latin typeface="Georgia"/>
                <a:ea typeface="Georgia"/>
                <a:cs typeface="Georgia"/>
              </a:rPr>
              <a:t>for the whole trip</a:t>
            </a:r>
          </a:p>
        </p:txBody>
      </p:sp>
      <p:sp>
        <p:nvSpPr>
          <p:cNvPr id="4" name="Next round: a complete recovery, live">
            <a:extLst xmlns:a="http://schemas.openxmlformats.org/drawingml/2006/main">
              <a:ext uri="{FF2B5EF4-FFF2-40B4-BE49-F238E27FC236}">
                <a16:creationId xmlns:a16="http://schemas.microsoft.com/office/drawing/2014/main" id="{54831917-8010-49E1-B0D7-CD5A1378B88A}"/>
              </a:ext>
            </a:extLst>
          </p:cNvPr>
          <p:cNvSpPr>
            <a:spLocks xmlns:a="http://schemas.openxmlformats.org/drawingml/2006/main" noGrp="1"/>
          </p:cNvSpPr>
          <p:nvPr/>
        </p:nvSpPr>
        <p:spPr>
          <a:xfrm xmlns:a="http://schemas.openxmlformats.org/drawingml/2006/main">
            <a:off x="647700" y="4333875"/>
            <a:ext cx="5619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1">
                <a:solidFill>
                  <a:srgbClr val="F8F7F3"/>
                </a:solidFill>
                <a:latin typeface="Arial"/>
                <a:ea typeface="Arial"/>
                <a:cs typeface="Arial"/>
              </a:defRPr>
            </a:pPr>
            <a:r>
              <a:rPr sz="2325" b="1">
                <a:solidFill>
                  <a:srgbClr val="F8F7F3"/>
                </a:solidFill>
                <a:latin typeface="Arial"/>
                <a:ea typeface="Arial"/>
                <a:cs typeface="Arial"/>
              </a:rPr>
              <a:t>Next round: a complete recovery, live</a:t>
            </a:r>
          </a:p>
        </p:txBody>
      </p:sp>
      <p:sp>
        <p:nvSpPr>
          <p:cNvPr id="5" name="Change the disruption or budget.&#10;Watch the en">
            <a:extLst xmlns:a="http://schemas.openxmlformats.org/drawingml/2006/main">
              <a:ext uri="{FF2B5EF4-FFF2-40B4-BE49-F238E27FC236}">
                <a16:creationId xmlns:a16="http://schemas.microsoft.com/office/drawing/2014/main" id="{32410625-1039-4909-B8CF-A270972E0489}"/>
              </a:ext>
            </a:extLst>
          </p:cNvPr>
          <p:cNvSpPr>
            <a:spLocks xmlns:a="http://schemas.openxmlformats.org/drawingml/2006/main" noGrp="1"/>
          </p:cNvSpPr>
          <p:nvPr/>
        </p:nvSpPr>
        <p:spPr>
          <a:xfrm xmlns:a="http://schemas.openxmlformats.org/drawingml/2006/main">
            <a:off x="647700" y="5219700"/>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BDD0C5"/>
                </a:solidFill>
                <a:latin typeface="Arial"/>
                <a:ea typeface="Arial"/>
                <a:cs typeface="Arial"/>
              </a:defRPr>
            </a:pPr>
            <a:r>
              <a:rPr sz="1875" b="0">
                <a:solidFill>
                  <a:srgbClr val="BDD0C5"/>
                </a:solidFill>
                <a:latin typeface="Arial"/>
                <a:ea typeface="Arial"/>
                <a:cs typeface="Arial"/>
              </a:rPr>
              <a:t>Change the disruption or budget.</a:t>
            </a:r>
          </a:p>
          <a:p xmlns:a="http://schemas.openxmlformats.org/drawingml/2006/main">
            <a:pPr>
              <a:defRPr sz="1875" b="0">
                <a:solidFill>
                  <a:srgbClr val="BDD0C5"/>
                </a:solidFill>
                <a:latin typeface="Arial"/>
                <a:ea typeface="Arial"/>
                <a:cs typeface="Arial"/>
              </a:defRPr>
            </a:pPr>
            <a:r>
              <a:rPr sz="1875" b="0">
                <a:solidFill>
                  <a:srgbClr val="BDD0C5"/>
                </a:solidFill>
                <a:latin typeface="Arial"/>
                <a:ea typeface="Arial"/>
                <a:cs typeface="Arial"/>
              </a:rPr>
              <a:t>Watch the engine adapt, then save the plan.</a:t>
            </a:r>
          </a:p>
        </p:txBody>
      </p:sp>
      <p:sp>
        <p:nvSpPr>
          <p:cNvPr id="6" name="github.com/ParmiGohil/Raahi">
            <a:extLst xmlns:a="http://schemas.openxmlformats.org/drawingml/2006/main">
              <a:ext uri="{FF2B5EF4-FFF2-40B4-BE49-F238E27FC236}">
                <a16:creationId xmlns:a16="http://schemas.microsoft.com/office/drawing/2014/main" id="{14AE2ECA-C0B4-444B-BFAD-655DCF6F73F9}"/>
              </a:ext>
            </a:extLst>
          </p:cNvPr>
          <p:cNvSpPr>
            <a:spLocks xmlns:a="http://schemas.openxmlformats.org/drawingml/2006/main" noGrp="1"/>
          </p:cNvSpPr>
          <p:nvPr/>
        </p:nvSpPr>
        <p:spPr>
          <a:xfrm xmlns:a="http://schemas.openxmlformats.org/drawingml/2006/main">
            <a:off x="647700" y="6191250"/>
            <a:ext cx="561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350" b="0">
                <a:solidFill>
                  <a:srgbClr val="BDD0C5"/>
                </a:solidFill>
                <a:latin typeface="Arial"/>
                <a:ea typeface="Arial"/>
                <a:cs typeface="Arial"/>
              </a:defRPr>
            </a:pPr>
            <a:r>
              <a:rPr sz="1350" b="0">
                <a:solidFill>
                  <a:srgbClr val="BDD0C5"/>
                </a:solidFill>
                <a:latin typeface="Arial"/>
                <a:ea typeface="Arial"/>
                <a:cs typeface="Arial"/>
              </a:rPr>
              <a:t>github.com/ParmiGohil/Raahi</a:t>
            </a:r>
          </a:p>
        </p:txBody>
      </p:sp>
    </p:spTree>
    <p:extLst>
      <p:ext uri="{BB962C8B-B14F-4D97-AF65-F5344CB8AC3E}">
        <p14:creationId xmlns:p14="http://schemas.microsoft.com/office/powerpoint/2010/main" val="14283376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2026-09-26T15:38:41.0300000Z</dcterms:created>
  <dcterms:modified xsi:type="dcterms:W3CDTF">2026-09-26T15:38:41.0300000Z</dcterms:modified>
</coreProperties>
</file>